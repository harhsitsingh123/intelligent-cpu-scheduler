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163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9019" y="9686925"/>
            <a:ext cx="2153221" cy="5143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0" y="0"/>
            <a:ext cx="6857998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9537" y="3748002"/>
            <a:ext cx="8973820" cy="873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1" i="0">
                <a:solidFill>
                  <a:srgbClr val="F94BA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1" i="0">
                <a:solidFill>
                  <a:srgbClr val="F94BA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1" i="0">
                <a:solidFill>
                  <a:srgbClr val="F94BA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1" i="0">
                <a:solidFill>
                  <a:srgbClr val="F94BA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416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3948" y="545058"/>
            <a:ext cx="16700102" cy="1464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1" i="0">
                <a:solidFill>
                  <a:srgbClr val="F94BAF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CPU</a:t>
            </a:r>
            <a:r>
              <a:rPr dirty="0" spc="-40"/>
              <a:t> </a:t>
            </a:r>
            <a:r>
              <a:rPr dirty="0"/>
              <a:t>Scheduling</a:t>
            </a:r>
            <a:r>
              <a:rPr dirty="0" spc="-25"/>
              <a:t> </a:t>
            </a:r>
            <a:r>
              <a:rPr dirty="0" spc="-10"/>
              <a:t>Simulator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9537" y="4968614"/>
            <a:ext cx="9370060" cy="1368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</a:t>
            </a:r>
            <a:r>
              <a:rPr dirty="0" sz="215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45">
                <a:solidFill>
                  <a:srgbClr val="D9D0E6"/>
                </a:solidFill>
                <a:latin typeface="Trebuchet MS"/>
                <a:cs typeface="Trebuchet MS"/>
              </a:rPr>
              <a:t>comprehensive</a:t>
            </a:r>
            <a:r>
              <a:rPr dirty="0" sz="2150" spc="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web-</a:t>
            </a:r>
            <a:r>
              <a:rPr dirty="0" sz="2150" spc="75">
                <a:solidFill>
                  <a:srgbClr val="D9D0E6"/>
                </a:solidFill>
                <a:latin typeface="Trebuchet MS"/>
                <a:cs typeface="Trebuchet MS"/>
              </a:rPr>
              <a:t>based</a:t>
            </a:r>
            <a:r>
              <a:rPr dirty="0" sz="2150" spc="9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application</a:t>
            </a:r>
            <a:r>
              <a:rPr dirty="0" sz="2150" spc="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demonstrating</a:t>
            </a:r>
            <a:r>
              <a:rPr dirty="0" sz="2150" spc="9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five</a:t>
            </a:r>
            <a:r>
              <a:rPr dirty="0" sz="2150" spc="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major</a:t>
            </a:r>
            <a:r>
              <a:rPr dirty="0" sz="2150" spc="9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CPU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scheduling</a:t>
            </a:r>
            <a:r>
              <a:rPr dirty="0" sz="2150" spc="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algorithms</a:t>
            </a:r>
            <a:r>
              <a:rPr dirty="0" sz="215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2150" spc="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interactive</a:t>
            </a:r>
            <a:r>
              <a:rPr dirty="0" sz="215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visualization,</a:t>
            </a:r>
            <a:r>
              <a:rPr dirty="0" sz="215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performance</a:t>
            </a:r>
            <a:r>
              <a:rPr dirty="0" sz="215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metrics,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algorithm</a:t>
            </a:r>
            <a:r>
              <a:rPr dirty="0" sz="2150" spc="3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65">
                <a:solidFill>
                  <a:srgbClr val="D9D0E6"/>
                </a:solidFill>
                <a:latin typeface="Trebuchet MS"/>
                <a:cs typeface="Trebuchet MS"/>
              </a:rPr>
              <a:t>comparison</a:t>
            </a:r>
            <a:r>
              <a:rPr dirty="0" sz="2150" spc="4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capabilities.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3295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10"/>
              </a:spcBef>
            </a:pPr>
            <a:r>
              <a:rPr dirty="0"/>
              <a:t>Project</a:t>
            </a:r>
            <a:r>
              <a:rPr dirty="0" spc="-40"/>
              <a:t> </a:t>
            </a:r>
            <a:r>
              <a:rPr dirty="0" spc="-10"/>
              <a:t>Objectives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92237" y="2506861"/>
            <a:ext cx="8009890" cy="3221355"/>
            <a:chOff x="992237" y="2506861"/>
            <a:chExt cx="8009890" cy="3221355"/>
          </a:xfrm>
        </p:grpSpPr>
        <p:sp>
          <p:nvSpPr>
            <p:cNvPr id="4" name="object 4" descr=""/>
            <p:cNvSpPr/>
            <p:nvPr/>
          </p:nvSpPr>
          <p:spPr>
            <a:xfrm>
              <a:off x="992237" y="2506861"/>
              <a:ext cx="8009890" cy="3221355"/>
            </a:xfrm>
            <a:custGeom>
              <a:avLst/>
              <a:gdLst/>
              <a:ahLst/>
              <a:cxnLst/>
              <a:rect l="l" t="t" r="r" b="b"/>
              <a:pathLst>
                <a:path w="8009890" h="3221354">
                  <a:moveTo>
                    <a:pt x="7967377" y="3221355"/>
                  </a:moveTo>
                  <a:lnTo>
                    <a:pt x="42481" y="3221355"/>
                  </a:lnTo>
                  <a:lnTo>
                    <a:pt x="26024" y="3218025"/>
                  </a:lnTo>
                  <a:lnTo>
                    <a:pt x="12506" y="3208936"/>
                  </a:lnTo>
                  <a:lnTo>
                    <a:pt x="3369" y="3195436"/>
                  </a:lnTo>
                  <a:lnTo>
                    <a:pt x="0" y="3178873"/>
                  </a:lnTo>
                  <a:lnTo>
                    <a:pt x="0" y="42481"/>
                  </a:lnTo>
                  <a:lnTo>
                    <a:pt x="3342" y="25958"/>
                  </a:lnTo>
                  <a:lnTo>
                    <a:pt x="12453" y="12453"/>
                  </a:lnTo>
                  <a:lnTo>
                    <a:pt x="25958" y="3342"/>
                  </a:lnTo>
                  <a:lnTo>
                    <a:pt x="42481" y="0"/>
                  </a:lnTo>
                  <a:lnTo>
                    <a:pt x="7967377" y="0"/>
                  </a:lnTo>
                  <a:lnTo>
                    <a:pt x="7983939" y="3342"/>
                  </a:lnTo>
                  <a:lnTo>
                    <a:pt x="7997439" y="12453"/>
                  </a:lnTo>
                  <a:lnTo>
                    <a:pt x="8006528" y="25958"/>
                  </a:lnTo>
                  <a:lnTo>
                    <a:pt x="8009857" y="42481"/>
                  </a:lnTo>
                  <a:lnTo>
                    <a:pt x="8009857" y="3178873"/>
                  </a:lnTo>
                  <a:lnTo>
                    <a:pt x="8006514" y="3195436"/>
                  </a:lnTo>
                  <a:lnTo>
                    <a:pt x="7997403" y="3208936"/>
                  </a:lnTo>
                  <a:lnTo>
                    <a:pt x="7983899" y="3218025"/>
                  </a:lnTo>
                  <a:lnTo>
                    <a:pt x="7967377" y="3221355"/>
                  </a:lnTo>
                  <a:close/>
                </a:path>
              </a:pathLst>
            </a:custGeom>
            <a:solidFill>
              <a:srgbClr val="4234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5754" y="2790378"/>
              <a:ext cx="850552" cy="850552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7419" y="3031886"/>
              <a:ext cx="365591" cy="365731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263054" y="3641313"/>
            <a:ext cx="7092950" cy="166687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Algorithm</a:t>
            </a:r>
            <a:r>
              <a:rPr dirty="0" sz="2750" spc="-10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Implementation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Implement</a:t>
            </a:r>
            <a:r>
              <a:rPr dirty="0" sz="2150" spc="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visualize</a:t>
            </a:r>
            <a:r>
              <a:rPr dirty="0" sz="21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five</a:t>
            </a:r>
            <a:r>
              <a:rPr dirty="0" sz="2150" spc="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CPU</a:t>
            </a:r>
            <a:r>
              <a:rPr dirty="0" sz="215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scheduling</a:t>
            </a:r>
            <a:r>
              <a:rPr dirty="0" sz="215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algorithms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accurate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metric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calculations.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285685" y="2506861"/>
            <a:ext cx="8010525" cy="3221355"/>
            <a:chOff x="9285685" y="2506861"/>
            <a:chExt cx="8010525" cy="3221355"/>
          </a:xfrm>
        </p:grpSpPr>
        <p:sp>
          <p:nvSpPr>
            <p:cNvPr id="9" name="object 9" descr=""/>
            <p:cNvSpPr/>
            <p:nvPr/>
          </p:nvSpPr>
          <p:spPr>
            <a:xfrm>
              <a:off x="9285685" y="2506861"/>
              <a:ext cx="8010525" cy="3221355"/>
            </a:xfrm>
            <a:custGeom>
              <a:avLst/>
              <a:gdLst/>
              <a:ahLst/>
              <a:cxnLst/>
              <a:rect l="l" t="t" r="r" b="b"/>
              <a:pathLst>
                <a:path w="8010525" h="3221354">
                  <a:moveTo>
                    <a:pt x="7967567" y="3221355"/>
                  </a:moveTo>
                  <a:lnTo>
                    <a:pt x="42481" y="3221355"/>
                  </a:lnTo>
                  <a:lnTo>
                    <a:pt x="26024" y="3218025"/>
                  </a:lnTo>
                  <a:lnTo>
                    <a:pt x="12506" y="3208936"/>
                  </a:lnTo>
                  <a:lnTo>
                    <a:pt x="3369" y="3195436"/>
                  </a:lnTo>
                  <a:lnTo>
                    <a:pt x="0" y="3178873"/>
                  </a:lnTo>
                  <a:lnTo>
                    <a:pt x="0" y="42481"/>
                  </a:lnTo>
                  <a:lnTo>
                    <a:pt x="3342" y="25958"/>
                  </a:lnTo>
                  <a:lnTo>
                    <a:pt x="12453" y="12453"/>
                  </a:lnTo>
                  <a:lnTo>
                    <a:pt x="25958" y="3342"/>
                  </a:lnTo>
                  <a:lnTo>
                    <a:pt x="42481" y="0"/>
                  </a:lnTo>
                  <a:lnTo>
                    <a:pt x="7967567" y="0"/>
                  </a:lnTo>
                  <a:lnTo>
                    <a:pt x="7984130" y="3342"/>
                  </a:lnTo>
                  <a:lnTo>
                    <a:pt x="7997630" y="12453"/>
                  </a:lnTo>
                  <a:lnTo>
                    <a:pt x="8006719" y="25958"/>
                  </a:lnTo>
                  <a:lnTo>
                    <a:pt x="8010049" y="42481"/>
                  </a:lnTo>
                  <a:lnTo>
                    <a:pt x="8010049" y="3178873"/>
                  </a:lnTo>
                  <a:lnTo>
                    <a:pt x="8006706" y="3195436"/>
                  </a:lnTo>
                  <a:lnTo>
                    <a:pt x="7997595" y="3208936"/>
                  </a:lnTo>
                  <a:lnTo>
                    <a:pt x="7984090" y="3218025"/>
                  </a:lnTo>
                  <a:lnTo>
                    <a:pt x="7967567" y="3221355"/>
                  </a:lnTo>
                  <a:close/>
                </a:path>
              </a:pathLst>
            </a:custGeom>
            <a:solidFill>
              <a:srgbClr val="4234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69202" y="2790378"/>
              <a:ext cx="850552" cy="85055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9801823" y="3041397"/>
              <a:ext cx="384810" cy="346710"/>
            </a:xfrm>
            <a:custGeom>
              <a:avLst/>
              <a:gdLst/>
              <a:ahLst/>
              <a:cxnLst/>
              <a:rect l="l" t="t" r="r" b="b"/>
              <a:pathLst>
                <a:path w="384809" h="346710">
                  <a:moveTo>
                    <a:pt x="0" y="0"/>
                  </a:moveTo>
                  <a:lnTo>
                    <a:pt x="104" y="346579"/>
                  </a:lnTo>
                  <a:lnTo>
                    <a:pt x="384039" y="346569"/>
                  </a:lnTo>
                </a:path>
                <a:path w="384809" h="346710">
                  <a:moveTo>
                    <a:pt x="314749" y="24366"/>
                  </a:moveTo>
                  <a:lnTo>
                    <a:pt x="382520" y="4199"/>
                  </a:lnTo>
                  <a:lnTo>
                    <a:pt x="237975" y="198542"/>
                  </a:lnTo>
                  <a:lnTo>
                    <a:pt x="171051" y="128492"/>
                  </a:lnTo>
                </a:path>
                <a:path w="384809" h="346710">
                  <a:moveTo>
                    <a:pt x="42636" y="286415"/>
                  </a:moveTo>
                  <a:lnTo>
                    <a:pt x="171051" y="128492"/>
                  </a:lnTo>
                </a:path>
                <a:path w="384809" h="346710">
                  <a:moveTo>
                    <a:pt x="384192" y="72646"/>
                  </a:moveTo>
                  <a:lnTo>
                    <a:pt x="384406" y="3637"/>
                  </a:lnTo>
                </a:path>
              </a:pathLst>
            </a:custGeom>
            <a:ln w="172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9556501" y="3641313"/>
            <a:ext cx="6967855" cy="166687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Visual</a:t>
            </a:r>
            <a:r>
              <a:rPr dirty="0" sz="2750" spc="-50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Learning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Create</a:t>
            </a:r>
            <a:r>
              <a:rPr dirty="0" sz="215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interactive</a:t>
            </a:r>
            <a:r>
              <a:rPr dirty="0" sz="2150" spc="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Gantt</a:t>
            </a:r>
            <a:r>
              <a:rPr dirty="0" sz="215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charts</a:t>
            </a:r>
            <a:r>
              <a:rPr dirty="0" sz="215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to</a:t>
            </a:r>
            <a:r>
              <a:rPr dirty="0" sz="2150" spc="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demonstrate</a:t>
            </a:r>
            <a:r>
              <a:rPr dirty="0" sz="2150" spc="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process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execution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timelines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 scheduling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decisions.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92237" y="6011764"/>
            <a:ext cx="8009890" cy="3221355"/>
            <a:chOff x="992237" y="6011764"/>
            <a:chExt cx="8009890" cy="3221355"/>
          </a:xfrm>
        </p:grpSpPr>
        <p:sp>
          <p:nvSpPr>
            <p:cNvPr id="14" name="object 14" descr=""/>
            <p:cNvSpPr/>
            <p:nvPr/>
          </p:nvSpPr>
          <p:spPr>
            <a:xfrm>
              <a:off x="992237" y="6011764"/>
              <a:ext cx="8009890" cy="3221355"/>
            </a:xfrm>
            <a:custGeom>
              <a:avLst/>
              <a:gdLst/>
              <a:ahLst/>
              <a:cxnLst/>
              <a:rect l="l" t="t" r="r" b="b"/>
              <a:pathLst>
                <a:path w="8009890" h="3221354">
                  <a:moveTo>
                    <a:pt x="7967377" y="3221355"/>
                  </a:moveTo>
                  <a:lnTo>
                    <a:pt x="42481" y="3221355"/>
                  </a:lnTo>
                  <a:lnTo>
                    <a:pt x="26025" y="3218026"/>
                  </a:lnTo>
                  <a:lnTo>
                    <a:pt x="12507" y="3208937"/>
                  </a:lnTo>
                  <a:lnTo>
                    <a:pt x="3370" y="3195436"/>
                  </a:lnTo>
                  <a:lnTo>
                    <a:pt x="0" y="3178873"/>
                  </a:lnTo>
                  <a:lnTo>
                    <a:pt x="0" y="42481"/>
                  </a:lnTo>
                  <a:lnTo>
                    <a:pt x="3342" y="25958"/>
                  </a:lnTo>
                  <a:lnTo>
                    <a:pt x="12453" y="12453"/>
                  </a:lnTo>
                  <a:lnTo>
                    <a:pt x="25958" y="3342"/>
                  </a:lnTo>
                  <a:lnTo>
                    <a:pt x="42481" y="0"/>
                  </a:lnTo>
                  <a:lnTo>
                    <a:pt x="7967377" y="0"/>
                  </a:lnTo>
                  <a:lnTo>
                    <a:pt x="7983939" y="3342"/>
                  </a:lnTo>
                  <a:lnTo>
                    <a:pt x="7997439" y="12453"/>
                  </a:lnTo>
                  <a:lnTo>
                    <a:pt x="8006528" y="25958"/>
                  </a:lnTo>
                  <a:lnTo>
                    <a:pt x="8009857" y="42481"/>
                  </a:lnTo>
                  <a:lnTo>
                    <a:pt x="8009857" y="3178873"/>
                  </a:lnTo>
                  <a:lnTo>
                    <a:pt x="8006514" y="3195436"/>
                  </a:lnTo>
                  <a:lnTo>
                    <a:pt x="7997403" y="3208937"/>
                  </a:lnTo>
                  <a:lnTo>
                    <a:pt x="7983899" y="3218026"/>
                  </a:lnTo>
                  <a:lnTo>
                    <a:pt x="7967377" y="3221355"/>
                  </a:lnTo>
                  <a:close/>
                </a:path>
              </a:pathLst>
            </a:custGeom>
            <a:solidFill>
              <a:srgbClr val="4234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5754" y="6295281"/>
              <a:ext cx="850552" cy="85055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546389" y="6529089"/>
              <a:ext cx="325755" cy="381000"/>
            </a:xfrm>
            <a:custGeom>
              <a:avLst/>
              <a:gdLst/>
              <a:ahLst/>
              <a:cxnLst/>
              <a:rect l="l" t="t" r="r" b="b"/>
              <a:pathLst>
                <a:path w="325755" h="381000">
                  <a:moveTo>
                    <a:pt x="0" y="0"/>
                  </a:moveTo>
                  <a:lnTo>
                    <a:pt x="325169" y="189076"/>
                  </a:lnTo>
                </a:path>
                <a:path w="325755" h="381000">
                  <a:moveTo>
                    <a:pt x="1681" y="380999"/>
                  </a:moveTo>
                  <a:lnTo>
                    <a:pt x="325169" y="189076"/>
                  </a:lnTo>
                </a:path>
              </a:pathLst>
            </a:custGeom>
            <a:ln w="17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263054" y="7146216"/>
            <a:ext cx="6794500" cy="166687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Performance</a:t>
            </a:r>
            <a:r>
              <a:rPr dirty="0" sz="2750" spc="-120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Analysis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Compare</a:t>
            </a:r>
            <a:r>
              <a:rPr dirty="0" sz="2150" spc="1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algorithms</a:t>
            </a:r>
            <a:r>
              <a:rPr dirty="0" sz="2150" spc="1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 spc="1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45">
                <a:solidFill>
                  <a:srgbClr val="D9D0E6"/>
                </a:solidFill>
                <a:latin typeface="Trebuchet MS"/>
                <a:cs typeface="Trebuchet MS"/>
              </a:rPr>
              <a:t>recommend</a:t>
            </a:r>
            <a:r>
              <a:rPr dirty="0" sz="2150" spc="1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optimal</a:t>
            </a:r>
            <a:r>
              <a:rPr dirty="0" sz="2150" spc="1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choices </a:t>
            </a:r>
            <a:r>
              <a:rPr dirty="0" sz="2150" spc="75">
                <a:solidFill>
                  <a:srgbClr val="D9D0E6"/>
                </a:solidFill>
                <a:latin typeface="Trebuchet MS"/>
                <a:cs typeface="Trebuchet MS"/>
              </a:rPr>
              <a:t>based</a:t>
            </a:r>
            <a:r>
              <a:rPr dirty="0" sz="215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110">
                <a:solidFill>
                  <a:srgbClr val="D9D0E6"/>
                </a:solidFill>
                <a:latin typeface="Trebuchet MS"/>
                <a:cs typeface="Trebuchet MS"/>
              </a:rPr>
              <a:t>on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turnaround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waiting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times.</a:t>
            </a:r>
            <a:endParaRPr sz="2150">
              <a:latin typeface="Trebuchet MS"/>
              <a:cs typeface="Trebuchet M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285685" y="6011764"/>
            <a:ext cx="8010525" cy="3221355"/>
            <a:chOff x="9285685" y="6011764"/>
            <a:chExt cx="8010525" cy="3221355"/>
          </a:xfrm>
        </p:grpSpPr>
        <p:sp>
          <p:nvSpPr>
            <p:cNvPr id="19" name="object 19" descr=""/>
            <p:cNvSpPr/>
            <p:nvPr/>
          </p:nvSpPr>
          <p:spPr>
            <a:xfrm>
              <a:off x="9285685" y="6011764"/>
              <a:ext cx="8010525" cy="3221355"/>
            </a:xfrm>
            <a:custGeom>
              <a:avLst/>
              <a:gdLst/>
              <a:ahLst/>
              <a:cxnLst/>
              <a:rect l="l" t="t" r="r" b="b"/>
              <a:pathLst>
                <a:path w="8010525" h="3221354">
                  <a:moveTo>
                    <a:pt x="7967567" y="3221355"/>
                  </a:moveTo>
                  <a:lnTo>
                    <a:pt x="42481" y="3221355"/>
                  </a:lnTo>
                  <a:lnTo>
                    <a:pt x="26025" y="3218026"/>
                  </a:lnTo>
                  <a:lnTo>
                    <a:pt x="12507" y="3208937"/>
                  </a:lnTo>
                  <a:lnTo>
                    <a:pt x="3370" y="3195436"/>
                  </a:lnTo>
                  <a:lnTo>
                    <a:pt x="0" y="3178873"/>
                  </a:lnTo>
                  <a:lnTo>
                    <a:pt x="0" y="42481"/>
                  </a:lnTo>
                  <a:lnTo>
                    <a:pt x="3342" y="25958"/>
                  </a:lnTo>
                  <a:lnTo>
                    <a:pt x="12453" y="12453"/>
                  </a:lnTo>
                  <a:lnTo>
                    <a:pt x="25958" y="3342"/>
                  </a:lnTo>
                  <a:lnTo>
                    <a:pt x="42481" y="0"/>
                  </a:lnTo>
                  <a:lnTo>
                    <a:pt x="7967567" y="0"/>
                  </a:lnTo>
                  <a:lnTo>
                    <a:pt x="7984130" y="3342"/>
                  </a:lnTo>
                  <a:lnTo>
                    <a:pt x="7997630" y="12453"/>
                  </a:lnTo>
                  <a:lnTo>
                    <a:pt x="8006719" y="25958"/>
                  </a:lnTo>
                  <a:lnTo>
                    <a:pt x="8010049" y="42481"/>
                  </a:lnTo>
                  <a:lnTo>
                    <a:pt x="8010049" y="3178873"/>
                  </a:lnTo>
                  <a:lnTo>
                    <a:pt x="8006706" y="3195436"/>
                  </a:lnTo>
                  <a:lnTo>
                    <a:pt x="7997595" y="3208937"/>
                  </a:lnTo>
                  <a:lnTo>
                    <a:pt x="7984090" y="3218026"/>
                  </a:lnTo>
                  <a:lnTo>
                    <a:pt x="7967567" y="3221355"/>
                  </a:lnTo>
                  <a:close/>
                </a:path>
              </a:pathLst>
            </a:custGeom>
            <a:solidFill>
              <a:srgbClr val="42344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69202" y="6295281"/>
              <a:ext cx="850552" cy="850552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13724" y="6520189"/>
              <a:ext cx="359906" cy="398786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9556501" y="7146216"/>
            <a:ext cx="6772275" cy="166687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User</a:t>
            </a:r>
            <a:r>
              <a:rPr dirty="0" sz="2750" spc="-5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Experience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Deliver</a:t>
            </a:r>
            <a:r>
              <a:rPr dirty="0" sz="2150" spc="-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a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modern,</a:t>
            </a:r>
            <a:r>
              <a:rPr dirty="0" sz="2150" spc="-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D9D0E6"/>
                </a:solidFill>
                <a:latin typeface="Trebuchet MS"/>
                <a:cs typeface="Trebuchet MS"/>
              </a:rPr>
              <a:t>responsive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interface</a:t>
            </a:r>
            <a:r>
              <a:rPr dirty="0" sz="2150" spc="-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for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interactive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learning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of</a:t>
            </a:r>
            <a:r>
              <a:rPr dirty="0" sz="2150" spc="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scheduling</a:t>
            </a:r>
            <a:r>
              <a:rPr dirty="0" sz="2150" spc="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concepts.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6512" rIns="0" bIns="0" rtlCol="0" vert="horz">
            <a:spAutoFit/>
          </a:bodyPr>
          <a:lstStyle/>
          <a:p>
            <a:pPr marL="107950">
              <a:lnSpc>
                <a:spcPct val="100000"/>
              </a:lnSpc>
              <a:spcBef>
                <a:spcPts val="110"/>
              </a:spcBef>
            </a:pPr>
            <a:r>
              <a:rPr dirty="0" sz="5050"/>
              <a:t>Technology </a:t>
            </a:r>
            <a:r>
              <a:rPr dirty="0" sz="5050" spc="-10"/>
              <a:t>Stack</a:t>
            </a:r>
            <a:endParaRPr sz="50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72" y="2930574"/>
            <a:ext cx="76200" cy="761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72" y="3433167"/>
            <a:ext cx="76200" cy="761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72" y="3935760"/>
            <a:ext cx="76200" cy="76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72" y="4438352"/>
            <a:ext cx="76200" cy="761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72" y="5768727"/>
            <a:ext cx="76200" cy="761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72" y="6271320"/>
            <a:ext cx="76200" cy="761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772" y="6773912"/>
            <a:ext cx="76200" cy="761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889347" y="2115473"/>
            <a:ext cx="6276340" cy="4836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F94BAF"/>
                </a:solidFill>
                <a:latin typeface="Arial"/>
                <a:cs typeface="Arial"/>
              </a:rPr>
              <a:t>Frontend</a:t>
            </a:r>
            <a:r>
              <a:rPr dirty="0" sz="2500" spc="-55" b="1">
                <a:solidFill>
                  <a:srgbClr val="F94BA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F94BAF"/>
                </a:solidFill>
                <a:latin typeface="Arial"/>
                <a:cs typeface="Arial"/>
              </a:rPr>
              <a:t>Technologies</a:t>
            </a:r>
            <a:endParaRPr sz="2500">
              <a:latin typeface="Arial"/>
              <a:cs typeface="Arial"/>
            </a:endParaRPr>
          </a:p>
          <a:p>
            <a:pPr marL="313690">
              <a:lnSpc>
                <a:spcPct val="100000"/>
              </a:lnSpc>
              <a:spcBef>
                <a:spcPts val="2215"/>
              </a:spcBef>
            </a:pP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HTML5</a:t>
            </a:r>
            <a:r>
              <a:rPr dirty="0" sz="2000" spc="-6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for</a:t>
            </a:r>
            <a:r>
              <a:rPr dirty="0" sz="200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semantic</a:t>
            </a:r>
            <a:r>
              <a:rPr dirty="0" sz="200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structure</a:t>
            </a:r>
            <a:endParaRPr sz="2000">
              <a:latin typeface="Trebuchet MS"/>
              <a:cs typeface="Trebuchet MS"/>
            </a:endParaRPr>
          </a:p>
          <a:p>
            <a:pPr marL="313690" marR="1930400">
              <a:lnSpc>
                <a:spcPct val="164900"/>
              </a:lnSpc>
            </a:pP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CSS3</a:t>
            </a:r>
            <a:r>
              <a:rPr dirty="0" sz="2000" spc="-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2000" spc="-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Grid</a:t>
            </a:r>
            <a:r>
              <a:rPr dirty="0" sz="2000" spc="-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000" spc="-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Flexbox</a:t>
            </a:r>
            <a:r>
              <a:rPr dirty="0" sz="2000" spc="-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layouts </a:t>
            </a:r>
            <a:r>
              <a:rPr dirty="0" sz="2000" spc="-25">
                <a:solidFill>
                  <a:srgbClr val="D9D0E6"/>
                </a:solidFill>
                <a:latin typeface="Trebuchet MS"/>
                <a:cs typeface="Trebuchet MS"/>
              </a:rPr>
              <a:t>JavaScript</a:t>
            </a:r>
            <a:r>
              <a:rPr dirty="0" sz="2000" spc="-5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ES6+</a:t>
            </a:r>
            <a:r>
              <a:rPr dirty="0" sz="20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D9D0E6"/>
                </a:solidFill>
                <a:latin typeface="Trebuchet MS"/>
                <a:cs typeface="Trebuchet MS"/>
              </a:rPr>
              <a:t>modules</a:t>
            </a:r>
            <a:endParaRPr sz="2000">
              <a:latin typeface="Trebuchet MS"/>
              <a:cs typeface="Trebuchet MS"/>
            </a:endParaRPr>
          </a:p>
          <a:p>
            <a:pPr marL="313690">
              <a:lnSpc>
                <a:spcPct val="100000"/>
              </a:lnSpc>
              <a:spcBef>
                <a:spcPts val="1560"/>
              </a:spcBef>
            </a:pP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Google</a:t>
            </a:r>
            <a:r>
              <a:rPr dirty="0" sz="20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Fonts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35">
                <a:solidFill>
                  <a:srgbClr val="D9D0E6"/>
                </a:solidFill>
                <a:latin typeface="Trebuchet MS"/>
                <a:cs typeface="Trebuchet MS"/>
              </a:rPr>
              <a:t>(Outfit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 family)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F94BAF"/>
                </a:solidFill>
                <a:latin typeface="Arial"/>
                <a:cs typeface="Arial"/>
              </a:rPr>
              <a:t>System</a:t>
            </a:r>
            <a:r>
              <a:rPr dirty="0" sz="2500" spc="-60" b="1">
                <a:solidFill>
                  <a:srgbClr val="F94BA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F94BAF"/>
                </a:solidFill>
                <a:latin typeface="Arial"/>
                <a:cs typeface="Arial"/>
              </a:rPr>
              <a:t>Requirements</a:t>
            </a:r>
            <a:endParaRPr sz="2500">
              <a:latin typeface="Arial"/>
              <a:cs typeface="Arial"/>
            </a:endParaRPr>
          </a:p>
          <a:p>
            <a:pPr marL="313690" marR="5080">
              <a:lnSpc>
                <a:spcPct val="164900"/>
              </a:lnSpc>
              <a:spcBef>
                <a:spcPts val="660"/>
              </a:spcBef>
            </a:pPr>
            <a:r>
              <a:rPr dirty="0" sz="2000" spc="55">
                <a:solidFill>
                  <a:srgbClr val="D9D0E6"/>
                </a:solidFill>
                <a:latin typeface="Trebuchet MS"/>
                <a:cs typeface="Trebuchet MS"/>
              </a:rPr>
              <a:t>Modern</a:t>
            </a:r>
            <a:r>
              <a:rPr dirty="0" sz="200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web</a:t>
            </a:r>
            <a:r>
              <a:rPr dirty="0" sz="2000" spc="-5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browser</a:t>
            </a:r>
            <a:r>
              <a:rPr dirty="0" sz="2000" spc="-5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30">
                <a:solidFill>
                  <a:srgbClr val="D9D0E6"/>
                </a:solidFill>
                <a:latin typeface="Trebuchet MS"/>
                <a:cs typeface="Trebuchet MS"/>
              </a:rPr>
              <a:t>(Chrome,</a:t>
            </a:r>
            <a:r>
              <a:rPr dirty="0" sz="2000" spc="-5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D9D0E6"/>
                </a:solidFill>
                <a:latin typeface="Trebuchet MS"/>
                <a:cs typeface="Trebuchet MS"/>
              </a:rPr>
              <a:t>Firefox,</a:t>
            </a:r>
            <a:r>
              <a:rPr dirty="0" sz="200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D9D0E6"/>
                </a:solidFill>
                <a:latin typeface="Trebuchet MS"/>
                <a:cs typeface="Trebuchet MS"/>
              </a:rPr>
              <a:t>Safari,</a:t>
            </a:r>
            <a:r>
              <a:rPr dirty="0" sz="2000" spc="-5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Edge) </a:t>
            </a:r>
            <a:r>
              <a:rPr dirty="0" sz="2000" spc="-30">
                <a:solidFill>
                  <a:srgbClr val="D9D0E6"/>
                </a:solidFill>
                <a:latin typeface="Trebuchet MS"/>
                <a:cs typeface="Trebuchet MS"/>
              </a:rPr>
              <a:t>2GB+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RAM</a:t>
            </a:r>
            <a:r>
              <a:rPr dirty="0" sz="2000" spc="-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recommended</a:t>
            </a:r>
            <a:endParaRPr sz="2000">
              <a:latin typeface="Trebuchet MS"/>
              <a:cs typeface="Trebuchet MS"/>
            </a:endParaRPr>
          </a:p>
          <a:p>
            <a:pPr marL="313690">
              <a:lnSpc>
                <a:spcPct val="100000"/>
              </a:lnSpc>
              <a:spcBef>
                <a:spcPts val="1555"/>
              </a:spcBef>
            </a:pPr>
            <a:r>
              <a:rPr dirty="0" sz="2000" spc="-45">
                <a:solidFill>
                  <a:srgbClr val="D9D0E6"/>
                </a:solidFill>
                <a:latin typeface="Trebuchet MS"/>
                <a:cs typeface="Trebuchet MS"/>
              </a:rPr>
              <a:t>1024x768</a:t>
            </a:r>
            <a:r>
              <a:rPr dirty="0" sz="200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minimum</a:t>
            </a:r>
            <a:r>
              <a:rPr dirty="0" sz="200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display</a:t>
            </a:r>
            <a:r>
              <a:rPr dirty="0" sz="200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resolution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67850" y="2190601"/>
            <a:ext cx="7927626" cy="79276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3948" y="587672"/>
            <a:ext cx="758317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4450" algn="l"/>
                <a:tab pos="4553585" algn="l"/>
              </a:tabLst>
            </a:pPr>
            <a:r>
              <a:rPr dirty="0" sz="4500" spc="-20"/>
              <a:t>Five</a:t>
            </a:r>
            <a:r>
              <a:rPr dirty="0" sz="4500"/>
              <a:t>	</a:t>
            </a:r>
            <a:r>
              <a:rPr dirty="0" sz="4500" spc="-10"/>
              <a:t>Scheduling</a:t>
            </a:r>
            <a:r>
              <a:rPr dirty="0" sz="4500"/>
              <a:t>	</a:t>
            </a:r>
            <a:r>
              <a:rPr dirty="0" sz="4500" spc="-10"/>
              <a:t>Algorithms</a:t>
            </a:r>
            <a:endParaRPr sz="4500"/>
          </a:p>
        </p:txBody>
      </p:sp>
      <p:grpSp>
        <p:nvGrpSpPr>
          <p:cNvPr id="3" name="object 3" descr=""/>
          <p:cNvGrpSpPr/>
          <p:nvPr/>
        </p:nvGrpSpPr>
        <p:grpSpPr>
          <a:xfrm>
            <a:off x="792361" y="1800373"/>
            <a:ext cx="16703675" cy="1414145"/>
            <a:chOff x="792361" y="1800373"/>
            <a:chExt cx="16703675" cy="1414145"/>
          </a:xfrm>
        </p:grpSpPr>
        <p:sp>
          <p:nvSpPr>
            <p:cNvPr id="4" name="object 4" descr=""/>
            <p:cNvSpPr/>
            <p:nvPr/>
          </p:nvSpPr>
          <p:spPr>
            <a:xfrm>
              <a:off x="806648" y="1814661"/>
              <a:ext cx="16675100" cy="1385570"/>
            </a:xfrm>
            <a:custGeom>
              <a:avLst/>
              <a:gdLst/>
              <a:ahLst/>
              <a:cxnLst/>
              <a:rect l="l" t="t" r="r" b="b"/>
              <a:pathLst>
                <a:path w="16675100" h="1385570">
                  <a:moveTo>
                    <a:pt x="16639508" y="1385125"/>
                  </a:moveTo>
                  <a:lnTo>
                    <a:pt x="35242" y="1385125"/>
                  </a:lnTo>
                  <a:lnTo>
                    <a:pt x="21538" y="1382402"/>
                  </a:lnTo>
                  <a:lnTo>
                    <a:pt x="10334" y="1374981"/>
                  </a:lnTo>
                  <a:lnTo>
                    <a:pt x="2774" y="1363989"/>
                  </a:lnTo>
                  <a:lnTo>
                    <a:pt x="0" y="1350549"/>
                  </a:lnTo>
                  <a:lnTo>
                    <a:pt x="0" y="34575"/>
                  </a:lnTo>
                  <a:lnTo>
                    <a:pt x="2774" y="21136"/>
                  </a:lnTo>
                  <a:lnTo>
                    <a:pt x="10334" y="10144"/>
                  </a:lnTo>
                  <a:lnTo>
                    <a:pt x="21538" y="2723"/>
                  </a:lnTo>
                  <a:lnTo>
                    <a:pt x="35242" y="0"/>
                  </a:lnTo>
                  <a:lnTo>
                    <a:pt x="16639508" y="0"/>
                  </a:lnTo>
                  <a:lnTo>
                    <a:pt x="16653213" y="2723"/>
                  </a:lnTo>
                  <a:lnTo>
                    <a:pt x="16664416" y="10144"/>
                  </a:lnTo>
                  <a:lnTo>
                    <a:pt x="16671976" y="21136"/>
                  </a:lnTo>
                  <a:lnTo>
                    <a:pt x="16674750" y="34575"/>
                  </a:lnTo>
                  <a:lnTo>
                    <a:pt x="16674750" y="1350549"/>
                  </a:lnTo>
                  <a:lnTo>
                    <a:pt x="16671976" y="1363989"/>
                  </a:lnTo>
                  <a:lnTo>
                    <a:pt x="16664416" y="1374981"/>
                  </a:lnTo>
                  <a:lnTo>
                    <a:pt x="16653213" y="1382402"/>
                  </a:lnTo>
                  <a:lnTo>
                    <a:pt x="16639508" y="1385125"/>
                  </a:lnTo>
                  <a:close/>
                </a:path>
              </a:pathLst>
            </a:custGeom>
            <a:solidFill>
              <a:srgbClr val="2416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2361" y="1800373"/>
              <a:ext cx="16703675" cy="1414145"/>
            </a:xfrm>
            <a:custGeom>
              <a:avLst/>
              <a:gdLst/>
              <a:ahLst/>
              <a:cxnLst/>
              <a:rect l="l" t="t" r="r" b="b"/>
              <a:pathLst>
                <a:path w="16703675" h="1414145">
                  <a:moveTo>
                    <a:pt x="49530" y="1413700"/>
                  </a:moveTo>
                  <a:lnTo>
                    <a:pt x="30378" y="1409896"/>
                  </a:lnTo>
                  <a:lnTo>
                    <a:pt x="14620" y="1399484"/>
                  </a:lnTo>
                  <a:lnTo>
                    <a:pt x="3935" y="1383964"/>
                  </a:lnTo>
                  <a:lnTo>
                    <a:pt x="0" y="1364837"/>
                  </a:lnTo>
                  <a:lnTo>
                    <a:pt x="0" y="48863"/>
                  </a:lnTo>
                  <a:lnTo>
                    <a:pt x="30338" y="3804"/>
                  </a:lnTo>
                  <a:lnTo>
                    <a:pt x="16653796" y="0"/>
                  </a:lnTo>
                  <a:lnTo>
                    <a:pt x="16653796" y="14287"/>
                  </a:lnTo>
                  <a:lnTo>
                    <a:pt x="49530" y="14287"/>
                  </a:lnTo>
                  <a:lnTo>
                    <a:pt x="49530" y="28575"/>
                  </a:lnTo>
                  <a:lnTo>
                    <a:pt x="41273" y="30204"/>
                  </a:lnTo>
                  <a:lnTo>
                    <a:pt x="34623" y="34611"/>
                  </a:lnTo>
                  <a:lnTo>
                    <a:pt x="30188" y="41072"/>
                  </a:lnTo>
                  <a:lnTo>
                    <a:pt x="28575" y="48863"/>
                  </a:lnTo>
                  <a:lnTo>
                    <a:pt x="28575" y="1364837"/>
                  </a:lnTo>
                  <a:lnTo>
                    <a:pt x="30188" y="1372628"/>
                  </a:lnTo>
                  <a:lnTo>
                    <a:pt x="34623" y="1379089"/>
                  </a:lnTo>
                  <a:lnTo>
                    <a:pt x="41273" y="1383496"/>
                  </a:lnTo>
                  <a:lnTo>
                    <a:pt x="49530" y="1385125"/>
                  </a:lnTo>
                  <a:lnTo>
                    <a:pt x="16698608" y="1385125"/>
                  </a:lnTo>
                  <a:lnTo>
                    <a:pt x="16688742" y="1399484"/>
                  </a:lnTo>
                  <a:lnTo>
                    <a:pt x="49530" y="1399484"/>
                  </a:lnTo>
                  <a:lnTo>
                    <a:pt x="49530" y="1413700"/>
                  </a:lnTo>
                  <a:close/>
                </a:path>
                <a:path w="16703675" h="1414145">
                  <a:moveTo>
                    <a:pt x="16698608" y="1385125"/>
                  </a:moveTo>
                  <a:lnTo>
                    <a:pt x="16653796" y="1385125"/>
                  </a:lnTo>
                  <a:lnTo>
                    <a:pt x="16662054" y="1383496"/>
                  </a:lnTo>
                  <a:lnTo>
                    <a:pt x="16668704" y="1379089"/>
                  </a:lnTo>
                  <a:lnTo>
                    <a:pt x="16673139" y="1372628"/>
                  </a:lnTo>
                  <a:lnTo>
                    <a:pt x="16674753" y="1364837"/>
                  </a:lnTo>
                  <a:lnTo>
                    <a:pt x="16674753" y="48863"/>
                  </a:lnTo>
                  <a:lnTo>
                    <a:pt x="16673139" y="41072"/>
                  </a:lnTo>
                  <a:lnTo>
                    <a:pt x="16668704" y="34611"/>
                  </a:lnTo>
                  <a:lnTo>
                    <a:pt x="16662054" y="30204"/>
                  </a:lnTo>
                  <a:lnTo>
                    <a:pt x="16653796" y="28575"/>
                  </a:lnTo>
                  <a:lnTo>
                    <a:pt x="49530" y="28575"/>
                  </a:lnTo>
                  <a:lnTo>
                    <a:pt x="49530" y="14287"/>
                  </a:lnTo>
                  <a:lnTo>
                    <a:pt x="16653796" y="14287"/>
                  </a:lnTo>
                  <a:lnTo>
                    <a:pt x="16653796" y="0"/>
                  </a:lnTo>
                  <a:lnTo>
                    <a:pt x="16672948" y="3804"/>
                  </a:lnTo>
                  <a:lnTo>
                    <a:pt x="16688755" y="14287"/>
                  </a:lnTo>
                  <a:lnTo>
                    <a:pt x="16699392" y="29735"/>
                  </a:lnTo>
                  <a:lnTo>
                    <a:pt x="16703328" y="48863"/>
                  </a:lnTo>
                  <a:lnTo>
                    <a:pt x="16703328" y="1364837"/>
                  </a:lnTo>
                  <a:lnTo>
                    <a:pt x="16699502" y="1383496"/>
                  </a:lnTo>
                  <a:lnTo>
                    <a:pt x="16699406" y="1383964"/>
                  </a:lnTo>
                  <a:lnTo>
                    <a:pt x="16698608" y="1385125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49530" y="1413700"/>
                  </a:lnTo>
                  <a:lnTo>
                    <a:pt x="49530" y="1399484"/>
                  </a:lnTo>
                  <a:lnTo>
                    <a:pt x="16653796" y="1399484"/>
                  </a:lnTo>
                  <a:lnTo>
                    <a:pt x="16653796" y="1413700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16653796" y="1399484"/>
                  </a:lnTo>
                  <a:lnTo>
                    <a:pt x="16688742" y="1399484"/>
                  </a:lnTo>
                  <a:lnTo>
                    <a:pt x="16672988" y="1409896"/>
                  </a:lnTo>
                  <a:lnTo>
                    <a:pt x="16653796" y="1413700"/>
                  </a:lnTo>
                  <a:close/>
                </a:path>
              </a:pathLst>
            </a:custGeom>
            <a:solidFill>
              <a:srgbClr val="5C4E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835223" y="1843236"/>
            <a:ext cx="922019" cy="1329055"/>
          </a:xfrm>
          <a:prstGeom prst="rect">
            <a:avLst/>
          </a:prstGeom>
          <a:solidFill>
            <a:srgbClr val="42344F"/>
          </a:solidFill>
        </p:spPr>
        <p:txBody>
          <a:bodyPr wrap="square" lIns="0" tIns="342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265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</a:pPr>
            <a:r>
              <a:rPr dirty="0" sz="2650" spc="-50" b="1">
                <a:solidFill>
                  <a:srgbClr val="D9D0E6"/>
                </a:solidFill>
                <a:latin typeface="Arial"/>
                <a:cs typeface="Arial"/>
              </a:rPr>
              <a:t>1</a:t>
            </a:r>
            <a:endParaRPr sz="26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74750" y="1842516"/>
            <a:ext cx="13377544" cy="991869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250" b="1">
                <a:solidFill>
                  <a:srgbClr val="D9D0E6"/>
                </a:solidFill>
                <a:latin typeface="Arial"/>
                <a:cs typeface="Arial"/>
              </a:rPr>
              <a:t>First Come First Serve </a:t>
            </a:r>
            <a:r>
              <a:rPr dirty="0" sz="2250" spc="-10" b="1">
                <a:solidFill>
                  <a:srgbClr val="D9D0E6"/>
                </a:solidFill>
                <a:latin typeface="Arial"/>
                <a:cs typeface="Arial"/>
              </a:rPr>
              <a:t>(FCFS)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800" b="1">
                <a:solidFill>
                  <a:srgbClr val="D9D0E6"/>
                </a:solidFill>
                <a:latin typeface="Trebuchet MS"/>
                <a:cs typeface="Trebuchet MS"/>
              </a:rPr>
              <a:t>Non-</a:t>
            </a:r>
            <a:r>
              <a:rPr dirty="0" sz="1800" spc="-30" b="1">
                <a:solidFill>
                  <a:srgbClr val="D9D0E6"/>
                </a:solidFill>
                <a:latin typeface="Trebuchet MS"/>
                <a:cs typeface="Trebuchet MS"/>
              </a:rPr>
              <a:t>Preemptive</a:t>
            </a:r>
            <a:r>
              <a:rPr dirty="0" sz="1800" spc="15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D9D0E6"/>
                </a:solidFill>
                <a:latin typeface="Trebuchet MS"/>
                <a:cs typeface="Trebuchet MS"/>
              </a:rPr>
              <a:t>-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Processes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execute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in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arrival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order.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Simple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implementation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but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high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average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waiting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1800" spc="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for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short</a:t>
            </a:r>
            <a:r>
              <a:rPr dirty="0" sz="18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processes.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92361" y="3415901"/>
            <a:ext cx="16703675" cy="1414145"/>
            <a:chOff x="792361" y="3415901"/>
            <a:chExt cx="16703675" cy="1414145"/>
          </a:xfrm>
        </p:grpSpPr>
        <p:sp>
          <p:nvSpPr>
            <p:cNvPr id="9" name="object 9" descr=""/>
            <p:cNvSpPr/>
            <p:nvPr/>
          </p:nvSpPr>
          <p:spPr>
            <a:xfrm>
              <a:off x="806648" y="3430189"/>
              <a:ext cx="16675100" cy="1385570"/>
            </a:xfrm>
            <a:custGeom>
              <a:avLst/>
              <a:gdLst/>
              <a:ahLst/>
              <a:cxnLst/>
              <a:rect l="l" t="t" r="r" b="b"/>
              <a:pathLst>
                <a:path w="16675100" h="1385570">
                  <a:moveTo>
                    <a:pt x="16639508" y="1385125"/>
                  </a:moveTo>
                  <a:lnTo>
                    <a:pt x="35242" y="1385125"/>
                  </a:lnTo>
                  <a:lnTo>
                    <a:pt x="21538" y="1382401"/>
                  </a:lnTo>
                  <a:lnTo>
                    <a:pt x="10334" y="1374981"/>
                  </a:lnTo>
                  <a:lnTo>
                    <a:pt x="2774" y="1363988"/>
                  </a:lnTo>
                  <a:lnTo>
                    <a:pt x="0" y="1350549"/>
                  </a:lnTo>
                  <a:lnTo>
                    <a:pt x="0" y="34575"/>
                  </a:lnTo>
                  <a:lnTo>
                    <a:pt x="2774" y="21136"/>
                  </a:lnTo>
                  <a:lnTo>
                    <a:pt x="10334" y="10144"/>
                  </a:lnTo>
                  <a:lnTo>
                    <a:pt x="21538" y="2723"/>
                  </a:lnTo>
                  <a:lnTo>
                    <a:pt x="35242" y="0"/>
                  </a:lnTo>
                  <a:lnTo>
                    <a:pt x="16639508" y="0"/>
                  </a:lnTo>
                  <a:lnTo>
                    <a:pt x="16653213" y="2723"/>
                  </a:lnTo>
                  <a:lnTo>
                    <a:pt x="16664416" y="10144"/>
                  </a:lnTo>
                  <a:lnTo>
                    <a:pt x="16671976" y="21136"/>
                  </a:lnTo>
                  <a:lnTo>
                    <a:pt x="16674750" y="34575"/>
                  </a:lnTo>
                  <a:lnTo>
                    <a:pt x="16674750" y="1350549"/>
                  </a:lnTo>
                  <a:lnTo>
                    <a:pt x="16671976" y="1363988"/>
                  </a:lnTo>
                  <a:lnTo>
                    <a:pt x="16664416" y="1374981"/>
                  </a:lnTo>
                  <a:lnTo>
                    <a:pt x="16653213" y="1382401"/>
                  </a:lnTo>
                  <a:lnTo>
                    <a:pt x="16639508" y="1385125"/>
                  </a:lnTo>
                  <a:close/>
                </a:path>
              </a:pathLst>
            </a:custGeom>
            <a:solidFill>
              <a:srgbClr val="2416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2361" y="3415901"/>
              <a:ext cx="16703675" cy="1414145"/>
            </a:xfrm>
            <a:custGeom>
              <a:avLst/>
              <a:gdLst/>
              <a:ahLst/>
              <a:cxnLst/>
              <a:rect l="l" t="t" r="r" b="b"/>
              <a:pathLst>
                <a:path w="16703675" h="1414145">
                  <a:moveTo>
                    <a:pt x="49530" y="1413700"/>
                  </a:moveTo>
                  <a:lnTo>
                    <a:pt x="30378" y="1409896"/>
                  </a:lnTo>
                  <a:lnTo>
                    <a:pt x="14620" y="1399484"/>
                  </a:lnTo>
                  <a:lnTo>
                    <a:pt x="3935" y="1383964"/>
                  </a:lnTo>
                  <a:lnTo>
                    <a:pt x="0" y="1364837"/>
                  </a:lnTo>
                  <a:lnTo>
                    <a:pt x="0" y="48863"/>
                  </a:lnTo>
                  <a:lnTo>
                    <a:pt x="30338" y="3804"/>
                  </a:lnTo>
                  <a:lnTo>
                    <a:pt x="49530" y="0"/>
                  </a:lnTo>
                  <a:lnTo>
                    <a:pt x="16653796" y="0"/>
                  </a:lnTo>
                  <a:lnTo>
                    <a:pt x="16653796" y="14287"/>
                  </a:lnTo>
                  <a:lnTo>
                    <a:pt x="49530" y="14287"/>
                  </a:lnTo>
                  <a:lnTo>
                    <a:pt x="49530" y="28575"/>
                  </a:lnTo>
                  <a:lnTo>
                    <a:pt x="41273" y="30204"/>
                  </a:lnTo>
                  <a:lnTo>
                    <a:pt x="34623" y="34611"/>
                  </a:lnTo>
                  <a:lnTo>
                    <a:pt x="30188" y="41072"/>
                  </a:lnTo>
                  <a:lnTo>
                    <a:pt x="28575" y="48863"/>
                  </a:lnTo>
                  <a:lnTo>
                    <a:pt x="28575" y="1364837"/>
                  </a:lnTo>
                  <a:lnTo>
                    <a:pt x="30188" y="1372628"/>
                  </a:lnTo>
                  <a:lnTo>
                    <a:pt x="34623" y="1379089"/>
                  </a:lnTo>
                  <a:lnTo>
                    <a:pt x="41273" y="1383495"/>
                  </a:lnTo>
                  <a:lnTo>
                    <a:pt x="49530" y="1385125"/>
                  </a:lnTo>
                  <a:lnTo>
                    <a:pt x="16698608" y="1385125"/>
                  </a:lnTo>
                  <a:lnTo>
                    <a:pt x="16688742" y="1399484"/>
                  </a:lnTo>
                  <a:lnTo>
                    <a:pt x="49530" y="1399484"/>
                  </a:lnTo>
                  <a:lnTo>
                    <a:pt x="49530" y="1413700"/>
                  </a:lnTo>
                  <a:close/>
                </a:path>
                <a:path w="16703675" h="1414145">
                  <a:moveTo>
                    <a:pt x="16698608" y="1385125"/>
                  </a:moveTo>
                  <a:lnTo>
                    <a:pt x="16653796" y="1385125"/>
                  </a:lnTo>
                  <a:lnTo>
                    <a:pt x="16662054" y="1383495"/>
                  </a:lnTo>
                  <a:lnTo>
                    <a:pt x="16668704" y="1379089"/>
                  </a:lnTo>
                  <a:lnTo>
                    <a:pt x="16673139" y="1372628"/>
                  </a:lnTo>
                  <a:lnTo>
                    <a:pt x="16674753" y="1364837"/>
                  </a:lnTo>
                  <a:lnTo>
                    <a:pt x="16674753" y="48863"/>
                  </a:lnTo>
                  <a:lnTo>
                    <a:pt x="16673139" y="41072"/>
                  </a:lnTo>
                  <a:lnTo>
                    <a:pt x="16668704" y="34611"/>
                  </a:lnTo>
                  <a:lnTo>
                    <a:pt x="16662054" y="30204"/>
                  </a:lnTo>
                  <a:lnTo>
                    <a:pt x="16653796" y="28575"/>
                  </a:lnTo>
                  <a:lnTo>
                    <a:pt x="49530" y="28575"/>
                  </a:lnTo>
                  <a:lnTo>
                    <a:pt x="49530" y="14287"/>
                  </a:lnTo>
                  <a:lnTo>
                    <a:pt x="16653796" y="14287"/>
                  </a:lnTo>
                  <a:lnTo>
                    <a:pt x="16653796" y="0"/>
                  </a:lnTo>
                  <a:lnTo>
                    <a:pt x="16672948" y="3804"/>
                  </a:lnTo>
                  <a:lnTo>
                    <a:pt x="16688755" y="14287"/>
                  </a:lnTo>
                  <a:lnTo>
                    <a:pt x="16699392" y="29735"/>
                  </a:lnTo>
                  <a:lnTo>
                    <a:pt x="16703328" y="48863"/>
                  </a:lnTo>
                  <a:lnTo>
                    <a:pt x="16703328" y="1364837"/>
                  </a:lnTo>
                  <a:lnTo>
                    <a:pt x="16699502" y="1383495"/>
                  </a:lnTo>
                  <a:lnTo>
                    <a:pt x="16699406" y="1383964"/>
                  </a:lnTo>
                  <a:lnTo>
                    <a:pt x="16698608" y="1385125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49530" y="1413700"/>
                  </a:lnTo>
                  <a:lnTo>
                    <a:pt x="49530" y="1399484"/>
                  </a:lnTo>
                  <a:lnTo>
                    <a:pt x="16653796" y="1399484"/>
                  </a:lnTo>
                  <a:lnTo>
                    <a:pt x="16653796" y="1413700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16653796" y="1399484"/>
                  </a:lnTo>
                  <a:lnTo>
                    <a:pt x="16688742" y="1399484"/>
                  </a:lnTo>
                  <a:lnTo>
                    <a:pt x="16672988" y="1409896"/>
                  </a:lnTo>
                  <a:lnTo>
                    <a:pt x="16653796" y="1413700"/>
                  </a:lnTo>
                  <a:close/>
                </a:path>
              </a:pathLst>
            </a:custGeom>
            <a:solidFill>
              <a:srgbClr val="5C4E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35223" y="3458766"/>
            <a:ext cx="922019" cy="1329055"/>
          </a:xfrm>
          <a:prstGeom prst="rect">
            <a:avLst/>
          </a:prstGeom>
          <a:solidFill>
            <a:srgbClr val="42344F"/>
          </a:solidFill>
        </p:spPr>
        <p:txBody>
          <a:bodyPr wrap="square" lIns="0" tIns="342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265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</a:pPr>
            <a:r>
              <a:rPr dirty="0" sz="2650" spc="-50" b="1">
                <a:solidFill>
                  <a:srgbClr val="D9D0E6"/>
                </a:solidFill>
                <a:latin typeface="Arial"/>
                <a:cs typeface="Arial"/>
              </a:rPr>
              <a:t>2</a:t>
            </a:r>
            <a:endParaRPr sz="26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974750" y="3458043"/>
            <a:ext cx="12762865" cy="991869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250" b="1">
                <a:solidFill>
                  <a:srgbClr val="D9D0E6"/>
                </a:solidFill>
                <a:latin typeface="Arial"/>
                <a:cs typeface="Arial"/>
              </a:rPr>
              <a:t>Shortest Job First </a:t>
            </a:r>
            <a:r>
              <a:rPr dirty="0" sz="2250" spc="-10" b="1">
                <a:solidFill>
                  <a:srgbClr val="D9D0E6"/>
                </a:solidFill>
                <a:latin typeface="Arial"/>
                <a:cs typeface="Arial"/>
              </a:rPr>
              <a:t>(SJF)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800" b="1">
                <a:solidFill>
                  <a:srgbClr val="D9D0E6"/>
                </a:solidFill>
                <a:latin typeface="Trebuchet MS"/>
                <a:cs typeface="Trebuchet MS"/>
              </a:rPr>
              <a:t>Non-</a:t>
            </a:r>
            <a:r>
              <a:rPr dirty="0" sz="1800" spc="-30" b="1">
                <a:solidFill>
                  <a:srgbClr val="D9D0E6"/>
                </a:solidFill>
                <a:latin typeface="Trebuchet MS"/>
                <a:cs typeface="Trebuchet MS"/>
              </a:rPr>
              <a:t>Preemptive</a:t>
            </a:r>
            <a:r>
              <a:rPr dirty="0" sz="1800" spc="5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D9D0E6"/>
                </a:solidFill>
                <a:latin typeface="Trebuchet MS"/>
                <a:cs typeface="Trebuchet MS"/>
              </a:rPr>
              <a:t>-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Shortest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burst</a:t>
            </a:r>
            <a:r>
              <a:rPr dirty="0" sz="180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executes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first.</a:t>
            </a:r>
            <a:r>
              <a:rPr dirty="0" sz="180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Optimal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average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waiting</a:t>
            </a:r>
            <a:r>
              <a:rPr dirty="0" sz="180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but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risks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starvation</a:t>
            </a:r>
            <a:r>
              <a:rPr dirty="0" sz="180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for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long</a:t>
            </a:r>
            <a:r>
              <a:rPr dirty="0" sz="180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processes.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92361" y="5031432"/>
            <a:ext cx="16703675" cy="1414145"/>
            <a:chOff x="792361" y="5031432"/>
            <a:chExt cx="16703675" cy="1414145"/>
          </a:xfrm>
        </p:grpSpPr>
        <p:sp>
          <p:nvSpPr>
            <p:cNvPr id="14" name="object 14" descr=""/>
            <p:cNvSpPr/>
            <p:nvPr/>
          </p:nvSpPr>
          <p:spPr>
            <a:xfrm>
              <a:off x="806648" y="5045719"/>
              <a:ext cx="16675100" cy="1385570"/>
            </a:xfrm>
            <a:custGeom>
              <a:avLst/>
              <a:gdLst/>
              <a:ahLst/>
              <a:cxnLst/>
              <a:rect l="l" t="t" r="r" b="b"/>
              <a:pathLst>
                <a:path w="16675100" h="1385570">
                  <a:moveTo>
                    <a:pt x="16639508" y="1385125"/>
                  </a:moveTo>
                  <a:lnTo>
                    <a:pt x="35242" y="1385125"/>
                  </a:lnTo>
                  <a:lnTo>
                    <a:pt x="21538" y="1382401"/>
                  </a:lnTo>
                  <a:lnTo>
                    <a:pt x="10334" y="1374981"/>
                  </a:lnTo>
                  <a:lnTo>
                    <a:pt x="2774" y="1363989"/>
                  </a:lnTo>
                  <a:lnTo>
                    <a:pt x="0" y="1350549"/>
                  </a:lnTo>
                  <a:lnTo>
                    <a:pt x="0" y="34575"/>
                  </a:lnTo>
                  <a:lnTo>
                    <a:pt x="2774" y="21136"/>
                  </a:lnTo>
                  <a:lnTo>
                    <a:pt x="10334" y="10144"/>
                  </a:lnTo>
                  <a:lnTo>
                    <a:pt x="21538" y="2723"/>
                  </a:lnTo>
                  <a:lnTo>
                    <a:pt x="35242" y="0"/>
                  </a:lnTo>
                  <a:lnTo>
                    <a:pt x="16639508" y="0"/>
                  </a:lnTo>
                  <a:lnTo>
                    <a:pt x="16653213" y="2723"/>
                  </a:lnTo>
                  <a:lnTo>
                    <a:pt x="16664416" y="10144"/>
                  </a:lnTo>
                  <a:lnTo>
                    <a:pt x="16671976" y="21136"/>
                  </a:lnTo>
                  <a:lnTo>
                    <a:pt x="16674750" y="34575"/>
                  </a:lnTo>
                  <a:lnTo>
                    <a:pt x="16674750" y="1350549"/>
                  </a:lnTo>
                  <a:lnTo>
                    <a:pt x="16671976" y="1363989"/>
                  </a:lnTo>
                  <a:lnTo>
                    <a:pt x="16664416" y="1374981"/>
                  </a:lnTo>
                  <a:lnTo>
                    <a:pt x="16653213" y="1382401"/>
                  </a:lnTo>
                  <a:lnTo>
                    <a:pt x="16639508" y="1385125"/>
                  </a:lnTo>
                  <a:close/>
                </a:path>
              </a:pathLst>
            </a:custGeom>
            <a:solidFill>
              <a:srgbClr val="2416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92361" y="5031432"/>
              <a:ext cx="16703675" cy="1414145"/>
            </a:xfrm>
            <a:custGeom>
              <a:avLst/>
              <a:gdLst/>
              <a:ahLst/>
              <a:cxnLst/>
              <a:rect l="l" t="t" r="r" b="b"/>
              <a:pathLst>
                <a:path w="16703675" h="1414145">
                  <a:moveTo>
                    <a:pt x="49530" y="1413700"/>
                  </a:moveTo>
                  <a:lnTo>
                    <a:pt x="30378" y="1409896"/>
                  </a:lnTo>
                  <a:lnTo>
                    <a:pt x="14620" y="1399484"/>
                  </a:lnTo>
                  <a:lnTo>
                    <a:pt x="3935" y="1383964"/>
                  </a:lnTo>
                  <a:lnTo>
                    <a:pt x="0" y="1364837"/>
                  </a:lnTo>
                  <a:lnTo>
                    <a:pt x="0" y="48863"/>
                  </a:lnTo>
                  <a:lnTo>
                    <a:pt x="3825" y="30204"/>
                  </a:lnTo>
                  <a:lnTo>
                    <a:pt x="3921" y="29735"/>
                  </a:lnTo>
                  <a:lnTo>
                    <a:pt x="14536" y="14287"/>
                  </a:lnTo>
                  <a:lnTo>
                    <a:pt x="30338" y="3804"/>
                  </a:lnTo>
                  <a:lnTo>
                    <a:pt x="49530" y="0"/>
                  </a:lnTo>
                  <a:lnTo>
                    <a:pt x="16653796" y="0"/>
                  </a:lnTo>
                  <a:lnTo>
                    <a:pt x="16653796" y="14287"/>
                  </a:lnTo>
                  <a:lnTo>
                    <a:pt x="49530" y="14287"/>
                  </a:lnTo>
                  <a:lnTo>
                    <a:pt x="49530" y="28575"/>
                  </a:lnTo>
                  <a:lnTo>
                    <a:pt x="28575" y="1364837"/>
                  </a:lnTo>
                  <a:lnTo>
                    <a:pt x="30188" y="1372628"/>
                  </a:lnTo>
                  <a:lnTo>
                    <a:pt x="34623" y="1379089"/>
                  </a:lnTo>
                  <a:lnTo>
                    <a:pt x="41273" y="1383495"/>
                  </a:lnTo>
                  <a:lnTo>
                    <a:pt x="49530" y="1385125"/>
                  </a:lnTo>
                  <a:lnTo>
                    <a:pt x="16698608" y="1385125"/>
                  </a:lnTo>
                  <a:lnTo>
                    <a:pt x="16688742" y="1399484"/>
                  </a:lnTo>
                  <a:lnTo>
                    <a:pt x="49530" y="1399484"/>
                  </a:lnTo>
                  <a:lnTo>
                    <a:pt x="49530" y="1413700"/>
                  </a:lnTo>
                  <a:close/>
                </a:path>
                <a:path w="16703675" h="1414145">
                  <a:moveTo>
                    <a:pt x="16698608" y="1385125"/>
                  </a:moveTo>
                  <a:lnTo>
                    <a:pt x="16653796" y="1385125"/>
                  </a:lnTo>
                  <a:lnTo>
                    <a:pt x="16662054" y="1383495"/>
                  </a:lnTo>
                  <a:lnTo>
                    <a:pt x="16668704" y="1379089"/>
                  </a:lnTo>
                  <a:lnTo>
                    <a:pt x="16673139" y="1372628"/>
                  </a:lnTo>
                  <a:lnTo>
                    <a:pt x="16674753" y="1364837"/>
                  </a:lnTo>
                  <a:lnTo>
                    <a:pt x="16674753" y="48863"/>
                  </a:lnTo>
                  <a:lnTo>
                    <a:pt x="16673139" y="41072"/>
                  </a:lnTo>
                  <a:lnTo>
                    <a:pt x="16668704" y="34611"/>
                  </a:lnTo>
                  <a:lnTo>
                    <a:pt x="16662054" y="30204"/>
                  </a:lnTo>
                  <a:lnTo>
                    <a:pt x="16653796" y="28575"/>
                  </a:lnTo>
                  <a:lnTo>
                    <a:pt x="49530" y="28575"/>
                  </a:lnTo>
                  <a:lnTo>
                    <a:pt x="49530" y="14287"/>
                  </a:lnTo>
                  <a:lnTo>
                    <a:pt x="16653796" y="14287"/>
                  </a:lnTo>
                  <a:lnTo>
                    <a:pt x="16653796" y="0"/>
                  </a:lnTo>
                  <a:lnTo>
                    <a:pt x="16672948" y="3804"/>
                  </a:lnTo>
                  <a:lnTo>
                    <a:pt x="16688755" y="14287"/>
                  </a:lnTo>
                  <a:lnTo>
                    <a:pt x="16699392" y="29735"/>
                  </a:lnTo>
                  <a:lnTo>
                    <a:pt x="16703328" y="48863"/>
                  </a:lnTo>
                  <a:lnTo>
                    <a:pt x="16703328" y="1364837"/>
                  </a:lnTo>
                  <a:lnTo>
                    <a:pt x="16699502" y="1383495"/>
                  </a:lnTo>
                  <a:lnTo>
                    <a:pt x="16699406" y="1383964"/>
                  </a:lnTo>
                  <a:lnTo>
                    <a:pt x="16698608" y="1385125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49530" y="1413700"/>
                  </a:lnTo>
                  <a:lnTo>
                    <a:pt x="49530" y="1399484"/>
                  </a:lnTo>
                  <a:lnTo>
                    <a:pt x="16653796" y="1399484"/>
                  </a:lnTo>
                  <a:lnTo>
                    <a:pt x="16653796" y="1413700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16653796" y="1399484"/>
                  </a:lnTo>
                  <a:lnTo>
                    <a:pt x="16688742" y="1399484"/>
                  </a:lnTo>
                  <a:lnTo>
                    <a:pt x="16672988" y="1409896"/>
                  </a:lnTo>
                  <a:lnTo>
                    <a:pt x="16653796" y="1413700"/>
                  </a:lnTo>
                  <a:close/>
                </a:path>
              </a:pathLst>
            </a:custGeom>
            <a:solidFill>
              <a:srgbClr val="5C4E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35223" y="5074294"/>
            <a:ext cx="922019" cy="1329055"/>
          </a:xfrm>
          <a:prstGeom prst="rect">
            <a:avLst/>
          </a:prstGeom>
          <a:solidFill>
            <a:srgbClr val="42344F"/>
          </a:solidFill>
        </p:spPr>
        <p:txBody>
          <a:bodyPr wrap="square" lIns="0" tIns="342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265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</a:pPr>
            <a:r>
              <a:rPr dirty="0" sz="2650" spc="-50" b="1">
                <a:solidFill>
                  <a:srgbClr val="D9D0E6"/>
                </a:solidFill>
                <a:latin typeface="Arial"/>
                <a:cs typeface="Arial"/>
              </a:rPr>
              <a:t>3</a:t>
            </a:r>
            <a:endParaRPr sz="26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74750" y="5073576"/>
            <a:ext cx="11789410" cy="991869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250" b="1">
                <a:solidFill>
                  <a:srgbClr val="D9D0E6"/>
                </a:solidFill>
                <a:latin typeface="Arial"/>
                <a:cs typeface="Arial"/>
              </a:rPr>
              <a:t>Shortest Remaining Time First </a:t>
            </a:r>
            <a:r>
              <a:rPr dirty="0" sz="2250" spc="-10" b="1">
                <a:solidFill>
                  <a:srgbClr val="D9D0E6"/>
                </a:solidFill>
                <a:latin typeface="Arial"/>
                <a:cs typeface="Arial"/>
              </a:rPr>
              <a:t>(SRTF)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800" spc="-30" b="1">
                <a:solidFill>
                  <a:srgbClr val="D9D0E6"/>
                </a:solidFill>
                <a:latin typeface="Trebuchet MS"/>
                <a:cs typeface="Trebuchet MS"/>
              </a:rPr>
              <a:t>Preemptive</a:t>
            </a:r>
            <a:r>
              <a:rPr dirty="0" sz="1800" spc="-10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D9D0E6"/>
                </a:solidFill>
                <a:latin typeface="Trebuchet MS"/>
                <a:cs typeface="Trebuchet MS"/>
              </a:rPr>
              <a:t>-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Shortest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remaining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D9D0E6"/>
                </a:solidFill>
                <a:latin typeface="Trebuchet MS"/>
                <a:cs typeface="Trebuchet MS"/>
              </a:rPr>
              <a:t>executes.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Minimum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average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waiting</a:t>
            </a:r>
            <a:r>
              <a:rPr dirty="0" sz="180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context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switching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 overhead.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792361" y="6646960"/>
            <a:ext cx="16703675" cy="1414145"/>
            <a:chOff x="792361" y="6646960"/>
            <a:chExt cx="16703675" cy="1414145"/>
          </a:xfrm>
        </p:grpSpPr>
        <p:sp>
          <p:nvSpPr>
            <p:cNvPr id="19" name="object 19" descr=""/>
            <p:cNvSpPr/>
            <p:nvPr/>
          </p:nvSpPr>
          <p:spPr>
            <a:xfrm>
              <a:off x="806648" y="6661248"/>
              <a:ext cx="16675100" cy="1385570"/>
            </a:xfrm>
            <a:custGeom>
              <a:avLst/>
              <a:gdLst/>
              <a:ahLst/>
              <a:cxnLst/>
              <a:rect l="l" t="t" r="r" b="b"/>
              <a:pathLst>
                <a:path w="16675100" h="1385570">
                  <a:moveTo>
                    <a:pt x="16639508" y="1385125"/>
                  </a:moveTo>
                  <a:lnTo>
                    <a:pt x="35242" y="1385125"/>
                  </a:lnTo>
                  <a:lnTo>
                    <a:pt x="21538" y="1382401"/>
                  </a:lnTo>
                  <a:lnTo>
                    <a:pt x="10334" y="1374981"/>
                  </a:lnTo>
                  <a:lnTo>
                    <a:pt x="2774" y="1363988"/>
                  </a:lnTo>
                  <a:lnTo>
                    <a:pt x="0" y="1350549"/>
                  </a:lnTo>
                  <a:lnTo>
                    <a:pt x="0" y="34575"/>
                  </a:lnTo>
                  <a:lnTo>
                    <a:pt x="2774" y="21136"/>
                  </a:lnTo>
                  <a:lnTo>
                    <a:pt x="10334" y="10144"/>
                  </a:lnTo>
                  <a:lnTo>
                    <a:pt x="21538" y="2723"/>
                  </a:lnTo>
                  <a:lnTo>
                    <a:pt x="35242" y="0"/>
                  </a:lnTo>
                  <a:lnTo>
                    <a:pt x="16639508" y="0"/>
                  </a:lnTo>
                  <a:lnTo>
                    <a:pt x="16653213" y="2723"/>
                  </a:lnTo>
                  <a:lnTo>
                    <a:pt x="16664416" y="10144"/>
                  </a:lnTo>
                  <a:lnTo>
                    <a:pt x="16671976" y="21136"/>
                  </a:lnTo>
                  <a:lnTo>
                    <a:pt x="16674750" y="34575"/>
                  </a:lnTo>
                  <a:lnTo>
                    <a:pt x="16674750" y="1350549"/>
                  </a:lnTo>
                  <a:lnTo>
                    <a:pt x="16671976" y="1363988"/>
                  </a:lnTo>
                  <a:lnTo>
                    <a:pt x="16664416" y="1374981"/>
                  </a:lnTo>
                  <a:lnTo>
                    <a:pt x="16653213" y="1382401"/>
                  </a:lnTo>
                  <a:lnTo>
                    <a:pt x="16639508" y="1385125"/>
                  </a:lnTo>
                  <a:close/>
                </a:path>
              </a:pathLst>
            </a:custGeom>
            <a:solidFill>
              <a:srgbClr val="2416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92361" y="6646960"/>
              <a:ext cx="16703675" cy="1414145"/>
            </a:xfrm>
            <a:custGeom>
              <a:avLst/>
              <a:gdLst/>
              <a:ahLst/>
              <a:cxnLst/>
              <a:rect l="l" t="t" r="r" b="b"/>
              <a:pathLst>
                <a:path w="16703675" h="1414145">
                  <a:moveTo>
                    <a:pt x="49530" y="1413700"/>
                  </a:moveTo>
                  <a:lnTo>
                    <a:pt x="30378" y="1409896"/>
                  </a:lnTo>
                  <a:lnTo>
                    <a:pt x="14620" y="1399484"/>
                  </a:lnTo>
                  <a:lnTo>
                    <a:pt x="3935" y="1383964"/>
                  </a:lnTo>
                  <a:lnTo>
                    <a:pt x="0" y="1364837"/>
                  </a:lnTo>
                  <a:lnTo>
                    <a:pt x="0" y="48863"/>
                  </a:lnTo>
                  <a:lnTo>
                    <a:pt x="30338" y="3804"/>
                  </a:lnTo>
                  <a:lnTo>
                    <a:pt x="49530" y="0"/>
                  </a:lnTo>
                  <a:lnTo>
                    <a:pt x="16653796" y="0"/>
                  </a:lnTo>
                  <a:lnTo>
                    <a:pt x="16653796" y="14287"/>
                  </a:lnTo>
                  <a:lnTo>
                    <a:pt x="49530" y="14287"/>
                  </a:lnTo>
                  <a:lnTo>
                    <a:pt x="49530" y="28575"/>
                  </a:lnTo>
                  <a:lnTo>
                    <a:pt x="41273" y="30204"/>
                  </a:lnTo>
                  <a:lnTo>
                    <a:pt x="34623" y="34611"/>
                  </a:lnTo>
                  <a:lnTo>
                    <a:pt x="30188" y="41072"/>
                  </a:lnTo>
                  <a:lnTo>
                    <a:pt x="28575" y="48863"/>
                  </a:lnTo>
                  <a:lnTo>
                    <a:pt x="28575" y="1364837"/>
                  </a:lnTo>
                  <a:lnTo>
                    <a:pt x="30188" y="1372628"/>
                  </a:lnTo>
                  <a:lnTo>
                    <a:pt x="34623" y="1379089"/>
                  </a:lnTo>
                  <a:lnTo>
                    <a:pt x="41273" y="1383496"/>
                  </a:lnTo>
                  <a:lnTo>
                    <a:pt x="49530" y="1385125"/>
                  </a:lnTo>
                  <a:lnTo>
                    <a:pt x="16698608" y="1385125"/>
                  </a:lnTo>
                  <a:lnTo>
                    <a:pt x="16688742" y="1399484"/>
                  </a:lnTo>
                  <a:lnTo>
                    <a:pt x="49530" y="1399484"/>
                  </a:lnTo>
                  <a:lnTo>
                    <a:pt x="49530" y="1413700"/>
                  </a:lnTo>
                  <a:close/>
                </a:path>
                <a:path w="16703675" h="1414145">
                  <a:moveTo>
                    <a:pt x="16698608" y="1385125"/>
                  </a:moveTo>
                  <a:lnTo>
                    <a:pt x="16653796" y="1385125"/>
                  </a:lnTo>
                  <a:lnTo>
                    <a:pt x="16662054" y="1383496"/>
                  </a:lnTo>
                  <a:lnTo>
                    <a:pt x="16668704" y="1379089"/>
                  </a:lnTo>
                  <a:lnTo>
                    <a:pt x="16673139" y="1372628"/>
                  </a:lnTo>
                  <a:lnTo>
                    <a:pt x="16674753" y="1364837"/>
                  </a:lnTo>
                  <a:lnTo>
                    <a:pt x="16674753" y="48863"/>
                  </a:lnTo>
                  <a:lnTo>
                    <a:pt x="16673139" y="41072"/>
                  </a:lnTo>
                  <a:lnTo>
                    <a:pt x="16668704" y="34611"/>
                  </a:lnTo>
                  <a:lnTo>
                    <a:pt x="16662054" y="30204"/>
                  </a:lnTo>
                  <a:lnTo>
                    <a:pt x="16653796" y="28575"/>
                  </a:lnTo>
                  <a:lnTo>
                    <a:pt x="49530" y="28575"/>
                  </a:lnTo>
                  <a:lnTo>
                    <a:pt x="49530" y="14287"/>
                  </a:lnTo>
                  <a:lnTo>
                    <a:pt x="16653796" y="14287"/>
                  </a:lnTo>
                  <a:lnTo>
                    <a:pt x="16653796" y="0"/>
                  </a:lnTo>
                  <a:lnTo>
                    <a:pt x="16672948" y="3804"/>
                  </a:lnTo>
                  <a:lnTo>
                    <a:pt x="16688755" y="14287"/>
                  </a:lnTo>
                  <a:lnTo>
                    <a:pt x="16699392" y="29735"/>
                  </a:lnTo>
                  <a:lnTo>
                    <a:pt x="16703328" y="48863"/>
                  </a:lnTo>
                  <a:lnTo>
                    <a:pt x="16703328" y="1364837"/>
                  </a:lnTo>
                  <a:lnTo>
                    <a:pt x="16699502" y="1383496"/>
                  </a:lnTo>
                  <a:lnTo>
                    <a:pt x="16699406" y="1383964"/>
                  </a:lnTo>
                  <a:lnTo>
                    <a:pt x="16698608" y="1385125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49530" y="1413700"/>
                  </a:lnTo>
                  <a:lnTo>
                    <a:pt x="49530" y="1399484"/>
                  </a:lnTo>
                  <a:lnTo>
                    <a:pt x="16653796" y="1399484"/>
                  </a:lnTo>
                  <a:lnTo>
                    <a:pt x="16653796" y="1413700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16653796" y="1399484"/>
                  </a:lnTo>
                  <a:lnTo>
                    <a:pt x="16688742" y="1399484"/>
                  </a:lnTo>
                  <a:lnTo>
                    <a:pt x="16672988" y="1409896"/>
                  </a:lnTo>
                  <a:lnTo>
                    <a:pt x="16653796" y="1413700"/>
                  </a:lnTo>
                  <a:close/>
                </a:path>
              </a:pathLst>
            </a:custGeom>
            <a:solidFill>
              <a:srgbClr val="5C4E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35223" y="6689823"/>
            <a:ext cx="922019" cy="1329055"/>
          </a:xfrm>
          <a:prstGeom prst="rect">
            <a:avLst/>
          </a:prstGeom>
          <a:solidFill>
            <a:srgbClr val="42344F"/>
          </a:solidFill>
        </p:spPr>
        <p:txBody>
          <a:bodyPr wrap="square" lIns="0" tIns="342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265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</a:pPr>
            <a:r>
              <a:rPr dirty="0" sz="2650" spc="-50" b="1">
                <a:solidFill>
                  <a:srgbClr val="D9D0E6"/>
                </a:solidFill>
                <a:latin typeface="Arial"/>
                <a:cs typeface="Arial"/>
              </a:rPr>
              <a:t>4</a:t>
            </a:r>
            <a:endParaRPr sz="26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974750" y="6689104"/>
            <a:ext cx="11710670" cy="991869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250" b="1">
                <a:solidFill>
                  <a:srgbClr val="D9D0E6"/>
                </a:solidFill>
                <a:latin typeface="Arial"/>
                <a:cs typeface="Arial"/>
              </a:rPr>
              <a:t>Round</a:t>
            </a:r>
            <a:r>
              <a:rPr dirty="0" sz="2250" spc="-80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250" b="1">
                <a:solidFill>
                  <a:srgbClr val="D9D0E6"/>
                </a:solidFill>
                <a:latin typeface="Arial"/>
                <a:cs typeface="Arial"/>
              </a:rPr>
              <a:t>Robin</a:t>
            </a:r>
            <a:r>
              <a:rPr dirty="0" sz="2250" spc="-6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250" spc="-20" b="1">
                <a:solidFill>
                  <a:srgbClr val="D9D0E6"/>
                </a:solidFill>
                <a:latin typeface="Arial"/>
                <a:cs typeface="Arial"/>
              </a:rPr>
              <a:t>(RR)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800" spc="-30" b="1">
                <a:solidFill>
                  <a:srgbClr val="D9D0E6"/>
                </a:solidFill>
                <a:latin typeface="Trebuchet MS"/>
                <a:cs typeface="Trebuchet MS"/>
              </a:rPr>
              <a:t>Preemptive</a:t>
            </a:r>
            <a:r>
              <a:rPr dirty="0" sz="1800" spc="-50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D9D0E6"/>
                </a:solidFill>
                <a:latin typeface="Trebuchet MS"/>
                <a:cs typeface="Trebuchet MS"/>
              </a:rPr>
              <a:t>-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Fixed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180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quantum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in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circular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order.</a:t>
            </a:r>
            <a:r>
              <a:rPr dirty="0" sz="180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Fair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CPU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allocation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180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75">
                <a:solidFill>
                  <a:srgbClr val="D9D0E6"/>
                </a:solidFill>
                <a:latin typeface="Trebuchet MS"/>
                <a:cs typeface="Trebuchet MS"/>
              </a:rPr>
              <a:t>no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starvation,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better</a:t>
            </a:r>
            <a:r>
              <a:rPr dirty="0" sz="1800" spc="-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D9D0E6"/>
                </a:solidFill>
                <a:latin typeface="Trebuchet MS"/>
                <a:cs typeface="Trebuchet MS"/>
              </a:rPr>
              <a:t>response</a:t>
            </a:r>
            <a:r>
              <a:rPr dirty="0" sz="180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time.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92361" y="8262491"/>
            <a:ext cx="16703675" cy="1414145"/>
            <a:chOff x="792361" y="8262491"/>
            <a:chExt cx="16703675" cy="1414145"/>
          </a:xfrm>
        </p:grpSpPr>
        <p:sp>
          <p:nvSpPr>
            <p:cNvPr id="24" name="object 24" descr=""/>
            <p:cNvSpPr/>
            <p:nvPr/>
          </p:nvSpPr>
          <p:spPr>
            <a:xfrm>
              <a:off x="806648" y="8276778"/>
              <a:ext cx="16675100" cy="1385570"/>
            </a:xfrm>
            <a:custGeom>
              <a:avLst/>
              <a:gdLst/>
              <a:ahLst/>
              <a:cxnLst/>
              <a:rect l="l" t="t" r="r" b="b"/>
              <a:pathLst>
                <a:path w="16675100" h="1385570">
                  <a:moveTo>
                    <a:pt x="16639508" y="1385125"/>
                  </a:moveTo>
                  <a:lnTo>
                    <a:pt x="35242" y="1385125"/>
                  </a:lnTo>
                  <a:lnTo>
                    <a:pt x="21538" y="1382402"/>
                  </a:lnTo>
                  <a:lnTo>
                    <a:pt x="10334" y="1374981"/>
                  </a:lnTo>
                  <a:lnTo>
                    <a:pt x="2774" y="1363989"/>
                  </a:lnTo>
                  <a:lnTo>
                    <a:pt x="0" y="1350549"/>
                  </a:lnTo>
                  <a:lnTo>
                    <a:pt x="0" y="34575"/>
                  </a:lnTo>
                  <a:lnTo>
                    <a:pt x="2774" y="21136"/>
                  </a:lnTo>
                  <a:lnTo>
                    <a:pt x="10334" y="10144"/>
                  </a:lnTo>
                  <a:lnTo>
                    <a:pt x="21538" y="2723"/>
                  </a:lnTo>
                  <a:lnTo>
                    <a:pt x="35242" y="0"/>
                  </a:lnTo>
                  <a:lnTo>
                    <a:pt x="16639508" y="0"/>
                  </a:lnTo>
                  <a:lnTo>
                    <a:pt x="16653213" y="2723"/>
                  </a:lnTo>
                  <a:lnTo>
                    <a:pt x="16664416" y="10144"/>
                  </a:lnTo>
                  <a:lnTo>
                    <a:pt x="16671976" y="21136"/>
                  </a:lnTo>
                  <a:lnTo>
                    <a:pt x="16674750" y="34575"/>
                  </a:lnTo>
                  <a:lnTo>
                    <a:pt x="16674750" y="1350549"/>
                  </a:lnTo>
                  <a:lnTo>
                    <a:pt x="16671976" y="1363989"/>
                  </a:lnTo>
                  <a:lnTo>
                    <a:pt x="16664416" y="1374981"/>
                  </a:lnTo>
                  <a:lnTo>
                    <a:pt x="16653213" y="1382402"/>
                  </a:lnTo>
                  <a:lnTo>
                    <a:pt x="16639508" y="1385125"/>
                  </a:lnTo>
                  <a:close/>
                </a:path>
              </a:pathLst>
            </a:custGeom>
            <a:solidFill>
              <a:srgbClr val="2416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92361" y="8262491"/>
              <a:ext cx="16703675" cy="1414145"/>
            </a:xfrm>
            <a:custGeom>
              <a:avLst/>
              <a:gdLst/>
              <a:ahLst/>
              <a:cxnLst/>
              <a:rect l="l" t="t" r="r" b="b"/>
              <a:pathLst>
                <a:path w="16703675" h="1414145">
                  <a:moveTo>
                    <a:pt x="49530" y="1413700"/>
                  </a:moveTo>
                  <a:lnTo>
                    <a:pt x="30378" y="1409896"/>
                  </a:lnTo>
                  <a:lnTo>
                    <a:pt x="14620" y="1399484"/>
                  </a:lnTo>
                  <a:lnTo>
                    <a:pt x="3935" y="1383964"/>
                  </a:lnTo>
                  <a:lnTo>
                    <a:pt x="0" y="1364837"/>
                  </a:lnTo>
                  <a:lnTo>
                    <a:pt x="0" y="48863"/>
                  </a:lnTo>
                  <a:lnTo>
                    <a:pt x="30338" y="3804"/>
                  </a:lnTo>
                  <a:lnTo>
                    <a:pt x="16653796" y="0"/>
                  </a:lnTo>
                  <a:lnTo>
                    <a:pt x="16653796" y="14287"/>
                  </a:lnTo>
                  <a:lnTo>
                    <a:pt x="49530" y="14287"/>
                  </a:lnTo>
                  <a:lnTo>
                    <a:pt x="49530" y="28575"/>
                  </a:lnTo>
                  <a:lnTo>
                    <a:pt x="41273" y="30204"/>
                  </a:lnTo>
                  <a:lnTo>
                    <a:pt x="34623" y="34611"/>
                  </a:lnTo>
                  <a:lnTo>
                    <a:pt x="30188" y="41072"/>
                  </a:lnTo>
                  <a:lnTo>
                    <a:pt x="28575" y="48863"/>
                  </a:lnTo>
                  <a:lnTo>
                    <a:pt x="28575" y="1364837"/>
                  </a:lnTo>
                  <a:lnTo>
                    <a:pt x="30188" y="1372628"/>
                  </a:lnTo>
                  <a:lnTo>
                    <a:pt x="34623" y="1379089"/>
                  </a:lnTo>
                  <a:lnTo>
                    <a:pt x="41273" y="1383496"/>
                  </a:lnTo>
                  <a:lnTo>
                    <a:pt x="49530" y="1385125"/>
                  </a:lnTo>
                  <a:lnTo>
                    <a:pt x="16698608" y="1385125"/>
                  </a:lnTo>
                  <a:lnTo>
                    <a:pt x="16688742" y="1399484"/>
                  </a:lnTo>
                  <a:lnTo>
                    <a:pt x="49530" y="1399484"/>
                  </a:lnTo>
                  <a:lnTo>
                    <a:pt x="49530" y="1413700"/>
                  </a:lnTo>
                  <a:close/>
                </a:path>
                <a:path w="16703675" h="1414145">
                  <a:moveTo>
                    <a:pt x="16698608" y="1385125"/>
                  </a:moveTo>
                  <a:lnTo>
                    <a:pt x="16653796" y="1385125"/>
                  </a:lnTo>
                  <a:lnTo>
                    <a:pt x="16662054" y="1383496"/>
                  </a:lnTo>
                  <a:lnTo>
                    <a:pt x="16668704" y="1379089"/>
                  </a:lnTo>
                  <a:lnTo>
                    <a:pt x="16673139" y="1372628"/>
                  </a:lnTo>
                  <a:lnTo>
                    <a:pt x="16674753" y="1364837"/>
                  </a:lnTo>
                  <a:lnTo>
                    <a:pt x="16674753" y="48863"/>
                  </a:lnTo>
                  <a:lnTo>
                    <a:pt x="16673139" y="41072"/>
                  </a:lnTo>
                  <a:lnTo>
                    <a:pt x="16668704" y="34611"/>
                  </a:lnTo>
                  <a:lnTo>
                    <a:pt x="16662054" y="30204"/>
                  </a:lnTo>
                  <a:lnTo>
                    <a:pt x="16653796" y="28575"/>
                  </a:lnTo>
                  <a:lnTo>
                    <a:pt x="49530" y="28575"/>
                  </a:lnTo>
                  <a:lnTo>
                    <a:pt x="49530" y="14287"/>
                  </a:lnTo>
                  <a:lnTo>
                    <a:pt x="16653796" y="14287"/>
                  </a:lnTo>
                  <a:lnTo>
                    <a:pt x="16653796" y="0"/>
                  </a:lnTo>
                  <a:lnTo>
                    <a:pt x="16672948" y="3804"/>
                  </a:lnTo>
                  <a:lnTo>
                    <a:pt x="16688755" y="14287"/>
                  </a:lnTo>
                  <a:lnTo>
                    <a:pt x="16699392" y="29736"/>
                  </a:lnTo>
                  <a:lnTo>
                    <a:pt x="16703328" y="48863"/>
                  </a:lnTo>
                  <a:lnTo>
                    <a:pt x="16703328" y="1364837"/>
                  </a:lnTo>
                  <a:lnTo>
                    <a:pt x="16699502" y="1383496"/>
                  </a:lnTo>
                  <a:lnTo>
                    <a:pt x="16699406" y="1383964"/>
                  </a:lnTo>
                  <a:lnTo>
                    <a:pt x="16698608" y="1385125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49530" y="1413700"/>
                  </a:lnTo>
                  <a:lnTo>
                    <a:pt x="49530" y="1399484"/>
                  </a:lnTo>
                  <a:lnTo>
                    <a:pt x="16653796" y="1399484"/>
                  </a:lnTo>
                  <a:lnTo>
                    <a:pt x="16653796" y="1413700"/>
                  </a:lnTo>
                  <a:close/>
                </a:path>
                <a:path w="16703675" h="1414145">
                  <a:moveTo>
                    <a:pt x="16653796" y="1413700"/>
                  </a:moveTo>
                  <a:lnTo>
                    <a:pt x="16653796" y="1399484"/>
                  </a:lnTo>
                  <a:lnTo>
                    <a:pt x="16688742" y="1399484"/>
                  </a:lnTo>
                  <a:lnTo>
                    <a:pt x="16672988" y="1409896"/>
                  </a:lnTo>
                  <a:lnTo>
                    <a:pt x="16653796" y="1413700"/>
                  </a:lnTo>
                  <a:close/>
                </a:path>
              </a:pathLst>
            </a:custGeom>
            <a:solidFill>
              <a:srgbClr val="5C4E6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835223" y="8305353"/>
            <a:ext cx="922019" cy="1329055"/>
          </a:xfrm>
          <a:prstGeom prst="rect">
            <a:avLst/>
          </a:prstGeom>
          <a:solidFill>
            <a:srgbClr val="42344F"/>
          </a:solidFill>
        </p:spPr>
        <p:txBody>
          <a:bodyPr wrap="square" lIns="0" tIns="342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endParaRPr sz="265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</a:pPr>
            <a:r>
              <a:rPr dirty="0" sz="2650" spc="-50" b="1">
                <a:solidFill>
                  <a:srgbClr val="D9D0E6"/>
                </a:solidFill>
                <a:latin typeface="Arial"/>
                <a:cs typeface="Arial"/>
              </a:rPr>
              <a:t>5</a:t>
            </a:r>
            <a:endParaRPr sz="265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974750" y="8304634"/>
            <a:ext cx="13665835" cy="991869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dirty="0" sz="2250" b="1">
                <a:solidFill>
                  <a:srgbClr val="D9D0E6"/>
                </a:solidFill>
                <a:latin typeface="Arial"/>
                <a:cs typeface="Arial"/>
              </a:rPr>
              <a:t>Priority </a:t>
            </a:r>
            <a:r>
              <a:rPr dirty="0" sz="2250" spc="-10" b="1">
                <a:solidFill>
                  <a:srgbClr val="D9D0E6"/>
                </a:solidFill>
                <a:latin typeface="Arial"/>
                <a:cs typeface="Arial"/>
              </a:rPr>
              <a:t>Scheduling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dirty="0" sz="1800" b="1">
                <a:solidFill>
                  <a:srgbClr val="D9D0E6"/>
                </a:solidFill>
                <a:latin typeface="Trebuchet MS"/>
                <a:cs typeface="Trebuchet MS"/>
              </a:rPr>
              <a:t>Non-</a:t>
            </a:r>
            <a:r>
              <a:rPr dirty="0" sz="1800" spc="-30" b="1">
                <a:solidFill>
                  <a:srgbClr val="D9D0E6"/>
                </a:solidFill>
                <a:latin typeface="Trebuchet MS"/>
                <a:cs typeface="Trebuchet MS"/>
              </a:rPr>
              <a:t>Preemptive</a:t>
            </a:r>
            <a:r>
              <a:rPr dirty="0" sz="1800" spc="-20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65">
                <a:solidFill>
                  <a:srgbClr val="D9D0E6"/>
                </a:solidFill>
                <a:latin typeface="Trebuchet MS"/>
                <a:cs typeface="Trebuchet MS"/>
              </a:rPr>
              <a:t>-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Executes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by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priority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(lower</a:t>
            </a:r>
            <a:r>
              <a:rPr dirty="0" sz="1800" spc="-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number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=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higher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D9D0E6"/>
                </a:solidFill>
                <a:latin typeface="Trebuchet MS"/>
                <a:cs typeface="Trebuchet MS"/>
              </a:rPr>
              <a:t>priority).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Flexible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but</a:t>
            </a:r>
            <a:r>
              <a:rPr dirty="0" sz="1800" spc="-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starvation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D9D0E6"/>
                </a:solidFill>
                <a:latin typeface="Trebuchet MS"/>
                <a:cs typeface="Trebuchet MS"/>
              </a:rPr>
              <a:t>possible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for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D9D0E6"/>
                </a:solidFill>
                <a:latin typeface="Trebuchet MS"/>
                <a:cs typeface="Trebuchet MS"/>
              </a:rPr>
              <a:t>low-priority</a:t>
            </a:r>
            <a:r>
              <a:rPr dirty="0" sz="180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D9D0E6"/>
                </a:solidFill>
                <a:latin typeface="Trebuchet MS"/>
                <a:cs typeface="Trebuchet MS"/>
              </a:rPr>
              <a:t>processes.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504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6832600">
              <a:lnSpc>
                <a:spcPct val="100000"/>
              </a:lnSpc>
              <a:spcBef>
                <a:spcPts val="110"/>
              </a:spcBef>
            </a:pPr>
            <a:r>
              <a:rPr dirty="0" sz="4300"/>
              <a:t>Project </a:t>
            </a:r>
            <a:r>
              <a:rPr dirty="0" sz="4300" spc="-10"/>
              <a:t>Architecture</a:t>
            </a:r>
            <a:endParaRPr sz="4300"/>
          </a:p>
        </p:txBody>
      </p:sp>
      <p:sp>
        <p:nvSpPr>
          <p:cNvPr id="4" name="object 4" descr=""/>
          <p:cNvSpPr/>
          <p:nvPr/>
        </p:nvSpPr>
        <p:spPr>
          <a:xfrm>
            <a:off x="7760464" y="1730127"/>
            <a:ext cx="73025" cy="219075"/>
          </a:xfrm>
          <a:custGeom>
            <a:avLst/>
            <a:gdLst/>
            <a:ahLst/>
            <a:cxnLst/>
            <a:rect l="l" t="t" r="r" b="b"/>
            <a:pathLst>
              <a:path w="73025" h="219075">
                <a:moveTo>
                  <a:pt x="21705" y="62284"/>
                </a:moveTo>
                <a:lnTo>
                  <a:pt x="36" y="42049"/>
                </a:lnTo>
                <a:lnTo>
                  <a:pt x="4" y="33187"/>
                </a:lnTo>
              </a:path>
              <a:path w="73025" h="219075">
                <a:moveTo>
                  <a:pt x="72806" y="209301"/>
                </a:moveTo>
                <a:lnTo>
                  <a:pt x="72568" y="213793"/>
                </a:lnTo>
                <a:lnTo>
                  <a:pt x="72080" y="216049"/>
                </a:lnTo>
                <a:lnTo>
                  <a:pt x="71244" y="218392"/>
                </a:lnTo>
                <a:lnTo>
                  <a:pt x="70878" y="219075"/>
                </a:lnTo>
              </a:path>
              <a:path w="73025" h="219075">
                <a:moveTo>
                  <a:pt x="72033" y="60192"/>
                </a:moveTo>
                <a:lnTo>
                  <a:pt x="11935" y="0"/>
                </a:lnTo>
              </a:path>
              <a:path w="73025" h="219075">
                <a:moveTo>
                  <a:pt x="72033" y="60193"/>
                </a:moveTo>
                <a:lnTo>
                  <a:pt x="21705" y="62284"/>
                </a:lnTo>
              </a:path>
              <a:path w="73025" h="219075">
                <a:moveTo>
                  <a:pt x="72033" y="60193"/>
                </a:moveTo>
                <a:lnTo>
                  <a:pt x="72806" y="209301"/>
                </a:lnTo>
              </a:path>
              <a:path w="73025" h="219075">
                <a:moveTo>
                  <a:pt x="4" y="33187"/>
                </a:moveTo>
                <a:lnTo>
                  <a:pt x="0" y="0"/>
                </a:lnTo>
              </a:path>
            </a:pathLst>
          </a:custGeom>
          <a:ln w="10433">
            <a:solidFill>
              <a:srgbClr val="D9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638900" y="1730127"/>
            <a:ext cx="3810" cy="219075"/>
          </a:xfrm>
          <a:custGeom>
            <a:avLst/>
            <a:gdLst/>
            <a:ahLst/>
            <a:cxnLst/>
            <a:rect l="l" t="t" r="r" b="b"/>
            <a:pathLst>
              <a:path w="3809" h="219075">
                <a:moveTo>
                  <a:pt x="2088" y="219075"/>
                </a:moveTo>
                <a:lnTo>
                  <a:pt x="1522" y="218098"/>
                </a:lnTo>
                <a:lnTo>
                  <a:pt x="464" y="214757"/>
                </a:lnTo>
                <a:lnTo>
                  <a:pt x="28" y="210385"/>
                </a:lnTo>
                <a:lnTo>
                  <a:pt x="9" y="202642"/>
                </a:lnTo>
              </a:path>
              <a:path w="3809" h="219075">
                <a:moveTo>
                  <a:pt x="0" y="12837"/>
                </a:moveTo>
                <a:lnTo>
                  <a:pt x="300" y="7351"/>
                </a:lnTo>
                <a:lnTo>
                  <a:pt x="1116" y="4145"/>
                </a:lnTo>
                <a:lnTo>
                  <a:pt x="2096" y="1957"/>
                </a:lnTo>
                <a:lnTo>
                  <a:pt x="3329" y="0"/>
                </a:lnTo>
              </a:path>
              <a:path w="3809" h="219075">
                <a:moveTo>
                  <a:pt x="9" y="202642"/>
                </a:moveTo>
                <a:lnTo>
                  <a:pt x="0" y="12837"/>
                </a:lnTo>
              </a:path>
            </a:pathLst>
          </a:custGeom>
          <a:ln w="10433">
            <a:solidFill>
              <a:srgbClr val="D9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613849" y="2087147"/>
            <a:ext cx="9441180" cy="1109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b="1">
                <a:solidFill>
                  <a:srgbClr val="D9D0E6"/>
                </a:solidFill>
                <a:latin typeface="Arial"/>
                <a:cs typeface="Arial"/>
              </a:rPr>
              <a:t>index.html</a:t>
            </a:r>
            <a:r>
              <a:rPr dirty="0" sz="2100" spc="2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D9D0E6"/>
                </a:solidFill>
                <a:latin typeface="Arial"/>
                <a:cs typeface="Arial"/>
              </a:rPr>
              <a:t>(45</a:t>
            </a:r>
            <a:r>
              <a:rPr dirty="0" sz="2100" spc="2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D9D0E6"/>
                </a:solidFill>
                <a:latin typeface="Arial"/>
                <a:cs typeface="Arial"/>
              </a:rPr>
              <a:t>KB)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36400"/>
              </a:lnSpc>
              <a:spcBef>
                <a:spcPts val="575"/>
              </a:spcBef>
            </a:pP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Complete</a:t>
            </a:r>
            <a:r>
              <a:rPr dirty="0" sz="16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HTML</a:t>
            </a:r>
            <a:r>
              <a:rPr dirty="0" sz="16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structure</a:t>
            </a:r>
            <a:r>
              <a:rPr dirty="0" sz="16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16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input</a:t>
            </a:r>
            <a:r>
              <a:rPr dirty="0" sz="16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forms,</a:t>
            </a:r>
            <a:r>
              <a:rPr dirty="0" sz="16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algorithm</a:t>
            </a:r>
            <a:r>
              <a:rPr dirty="0" sz="16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selection,</a:t>
            </a:r>
            <a:r>
              <a:rPr dirty="0" sz="16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60">
                <a:solidFill>
                  <a:srgbClr val="D9D0E6"/>
                </a:solidFill>
                <a:latin typeface="Trebuchet MS"/>
                <a:cs typeface="Trebuchet MS"/>
              </a:rPr>
              <a:t>process</a:t>
            </a:r>
            <a:r>
              <a:rPr dirty="0" sz="16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55">
                <a:solidFill>
                  <a:srgbClr val="D9D0E6"/>
                </a:solidFill>
                <a:latin typeface="Trebuchet MS"/>
                <a:cs typeface="Trebuchet MS"/>
              </a:rPr>
              <a:t>queue</a:t>
            </a:r>
            <a:r>
              <a:rPr dirty="0" sz="16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D9D0E6"/>
                </a:solidFill>
                <a:latin typeface="Trebuchet MS"/>
                <a:cs typeface="Trebuchet MS"/>
              </a:rPr>
              <a:t>table,</a:t>
            </a:r>
            <a:r>
              <a:rPr dirty="0" sz="16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7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16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D9D0E6"/>
                </a:solidFill>
                <a:latin typeface="Trebuchet MS"/>
                <a:cs typeface="Trebuchet MS"/>
              </a:rPr>
              <a:t>results visualization.</a:t>
            </a:r>
            <a:endParaRPr sz="1650">
              <a:latin typeface="Trebuchet MS"/>
              <a:cs typeface="Trebuchet MS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32100" y="3759072"/>
            <a:ext cx="207693" cy="21955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7613849" y="4160173"/>
            <a:ext cx="9236710" cy="1109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b="1">
                <a:solidFill>
                  <a:srgbClr val="D9D0E6"/>
                </a:solidFill>
                <a:latin typeface="Arial"/>
                <a:cs typeface="Arial"/>
              </a:rPr>
              <a:t>style.css</a:t>
            </a:r>
            <a:r>
              <a:rPr dirty="0" sz="2100" spc="40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D9D0E6"/>
                </a:solidFill>
                <a:latin typeface="Arial"/>
                <a:cs typeface="Arial"/>
              </a:rPr>
              <a:t>(6.5</a:t>
            </a:r>
            <a:r>
              <a:rPr dirty="0" sz="2100" spc="4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D9D0E6"/>
                </a:solidFill>
                <a:latin typeface="Arial"/>
                <a:cs typeface="Arial"/>
              </a:rPr>
              <a:t>KB)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36400"/>
              </a:lnSpc>
              <a:spcBef>
                <a:spcPts val="575"/>
              </a:spcBef>
            </a:pPr>
            <a:r>
              <a:rPr dirty="0" sz="1650" spc="70">
                <a:solidFill>
                  <a:srgbClr val="D9D0E6"/>
                </a:solidFill>
                <a:latin typeface="Trebuchet MS"/>
                <a:cs typeface="Trebuchet MS"/>
              </a:rPr>
              <a:t>Modern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dark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theme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65">
                <a:solidFill>
                  <a:srgbClr val="D9D0E6"/>
                </a:solidFill>
                <a:latin typeface="Trebuchet MS"/>
                <a:cs typeface="Trebuchet MS"/>
              </a:rPr>
              <a:t>CSS</a:t>
            </a:r>
            <a:r>
              <a:rPr dirty="0" sz="1650" spc="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50">
                <a:solidFill>
                  <a:srgbClr val="D9D0E6"/>
                </a:solidFill>
                <a:latin typeface="Trebuchet MS"/>
                <a:cs typeface="Trebuchet MS"/>
              </a:rPr>
              <a:t>custom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properties,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55">
                <a:solidFill>
                  <a:srgbClr val="D9D0E6"/>
                </a:solidFill>
                <a:latin typeface="Trebuchet MS"/>
                <a:cs typeface="Trebuchet MS"/>
              </a:rPr>
              <a:t>responsive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grid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layouts,</a:t>
            </a:r>
            <a:r>
              <a:rPr dirty="0" sz="1650" spc="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7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interactive</a:t>
            </a:r>
            <a:r>
              <a:rPr dirty="0" sz="16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D9D0E6"/>
                </a:solidFill>
                <a:latin typeface="Trebuchet MS"/>
                <a:cs typeface="Trebuchet MS"/>
              </a:rPr>
              <a:t>hover effects.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635291" y="5801348"/>
            <a:ext cx="201930" cy="193675"/>
          </a:xfrm>
          <a:custGeom>
            <a:avLst/>
            <a:gdLst/>
            <a:ahLst/>
            <a:cxnLst/>
            <a:rect l="l" t="t" r="r" b="b"/>
            <a:pathLst>
              <a:path w="201929" h="193675">
                <a:moveTo>
                  <a:pt x="58954" y="190656"/>
                </a:moveTo>
                <a:lnTo>
                  <a:pt x="30640" y="192952"/>
                </a:lnTo>
                <a:lnTo>
                  <a:pt x="13252" y="192983"/>
                </a:lnTo>
              </a:path>
              <a:path w="201929" h="193675">
                <a:moveTo>
                  <a:pt x="198165" y="59305"/>
                </a:moveTo>
                <a:lnTo>
                  <a:pt x="188785" y="63228"/>
                </a:lnTo>
                <a:lnTo>
                  <a:pt x="185791" y="63262"/>
                </a:lnTo>
              </a:path>
              <a:path w="201929" h="193675">
                <a:moveTo>
                  <a:pt x="58848" y="2648"/>
                </a:moveTo>
                <a:lnTo>
                  <a:pt x="30271" y="255"/>
                </a:lnTo>
                <a:lnTo>
                  <a:pt x="13252" y="253"/>
                </a:lnTo>
              </a:path>
              <a:path w="201929" h="193675">
                <a:moveTo>
                  <a:pt x="170207" y="144781"/>
                </a:moveTo>
                <a:lnTo>
                  <a:pt x="159687" y="156221"/>
                </a:lnTo>
                <a:lnTo>
                  <a:pt x="159681" y="158959"/>
                </a:lnTo>
              </a:path>
              <a:path w="201929" h="193675">
                <a:moveTo>
                  <a:pt x="159729" y="186914"/>
                </a:moveTo>
                <a:lnTo>
                  <a:pt x="166914" y="192972"/>
                </a:lnTo>
                <a:lnTo>
                  <a:pt x="187502" y="192864"/>
                </a:lnTo>
                <a:lnTo>
                  <a:pt x="195528" y="184217"/>
                </a:lnTo>
                <a:lnTo>
                  <a:pt x="195610" y="183110"/>
                </a:lnTo>
              </a:path>
              <a:path w="201929" h="193675">
                <a:moveTo>
                  <a:pt x="195506" y="153472"/>
                </a:moveTo>
                <a:lnTo>
                  <a:pt x="195310" y="151812"/>
                </a:lnTo>
                <a:lnTo>
                  <a:pt x="194767" y="150095"/>
                </a:lnTo>
                <a:lnTo>
                  <a:pt x="192972" y="147139"/>
                </a:lnTo>
              </a:path>
              <a:path w="201929" h="193675">
                <a:moveTo>
                  <a:pt x="320" y="143054"/>
                </a:moveTo>
                <a:lnTo>
                  <a:pt x="13803" y="130102"/>
                </a:lnTo>
                <a:lnTo>
                  <a:pt x="17642" y="130087"/>
                </a:lnTo>
              </a:path>
              <a:path w="201929" h="193675">
                <a:moveTo>
                  <a:pt x="50570" y="130049"/>
                </a:moveTo>
                <a:lnTo>
                  <a:pt x="63713" y="143866"/>
                </a:lnTo>
                <a:lnTo>
                  <a:pt x="63725" y="147159"/>
                </a:lnTo>
              </a:path>
              <a:path w="201929" h="193675">
                <a:moveTo>
                  <a:pt x="63664" y="180912"/>
                </a:moveTo>
                <a:lnTo>
                  <a:pt x="63337" y="183405"/>
                </a:lnTo>
                <a:lnTo>
                  <a:pt x="62831" y="185107"/>
                </a:lnTo>
                <a:lnTo>
                  <a:pt x="61558" y="187687"/>
                </a:lnTo>
                <a:lnTo>
                  <a:pt x="60008" y="189899"/>
                </a:lnTo>
              </a:path>
              <a:path w="201929" h="193675">
                <a:moveTo>
                  <a:pt x="137749" y="12923"/>
                </a:moveTo>
                <a:lnTo>
                  <a:pt x="150943" y="225"/>
                </a:lnTo>
                <a:lnTo>
                  <a:pt x="154236" y="178"/>
                </a:lnTo>
              </a:path>
              <a:path w="201929" h="193675">
                <a:moveTo>
                  <a:pt x="201259" y="51875"/>
                </a:moveTo>
                <a:lnTo>
                  <a:pt x="200917" y="54068"/>
                </a:lnTo>
                <a:lnTo>
                  <a:pt x="200232" y="56105"/>
                </a:lnTo>
                <a:lnTo>
                  <a:pt x="198757" y="58684"/>
                </a:lnTo>
                <a:lnTo>
                  <a:pt x="198165" y="59305"/>
                </a:lnTo>
              </a:path>
              <a:path w="201929" h="193675">
                <a:moveTo>
                  <a:pt x="13252" y="253"/>
                </a:moveTo>
                <a:lnTo>
                  <a:pt x="332" y="13807"/>
                </a:lnTo>
                <a:lnTo>
                  <a:pt x="331" y="17644"/>
                </a:lnTo>
              </a:path>
              <a:path w="201929" h="193675">
                <a:moveTo>
                  <a:pt x="50570" y="63196"/>
                </a:moveTo>
                <a:lnTo>
                  <a:pt x="63736" y="49198"/>
                </a:lnTo>
                <a:lnTo>
                  <a:pt x="63732" y="45907"/>
                </a:lnTo>
              </a:path>
              <a:path w="201929" h="193675">
                <a:moveTo>
                  <a:pt x="63697" y="12156"/>
                </a:moveTo>
                <a:lnTo>
                  <a:pt x="63376" y="9672"/>
                </a:lnTo>
                <a:lnTo>
                  <a:pt x="62844" y="7963"/>
                </a:lnTo>
                <a:lnTo>
                  <a:pt x="62009" y="6257"/>
                </a:lnTo>
                <a:lnTo>
                  <a:pt x="59896" y="3374"/>
                </a:lnTo>
              </a:path>
              <a:path w="201929" h="193675">
                <a:moveTo>
                  <a:pt x="191906" y="146467"/>
                </a:moveTo>
                <a:lnTo>
                  <a:pt x="170207" y="144781"/>
                </a:lnTo>
              </a:path>
              <a:path w="201929" h="193675">
                <a:moveTo>
                  <a:pt x="191906" y="146467"/>
                </a:moveTo>
                <a:lnTo>
                  <a:pt x="192972" y="147139"/>
                </a:lnTo>
              </a:path>
              <a:path w="201929" h="193675">
                <a:moveTo>
                  <a:pt x="100863" y="164209"/>
                </a:moveTo>
                <a:lnTo>
                  <a:pt x="100914" y="129836"/>
                </a:lnTo>
              </a:path>
              <a:path w="201929" h="193675">
                <a:moveTo>
                  <a:pt x="58954" y="190656"/>
                </a:moveTo>
                <a:lnTo>
                  <a:pt x="60008" y="189899"/>
                </a:lnTo>
              </a:path>
              <a:path w="201929" h="193675">
                <a:moveTo>
                  <a:pt x="58848" y="2648"/>
                </a:moveTo>
                <a:lnTo>
                  <a:pt x="59896" y="3374"/>
                </a:lnTo>
              </a:path>
              <a:path w="201929" h="193675">
                <a:moveTo>
                  <a:pt x="100545" y="96526"/>
                </a:moveTo>
                <a:lnTo>
                  <a:pt x="100988" y="28393"/>
                </a:lnTo>
              </a:path>
              <a:path w="201929" h="193675">
                <a:moveTo>
                  <a:pt x="31051" y="96682"/>
                </a:moveTo>
                <a:lnTo>
                  <a:pt x="100545" y="96526"/>
                </a:lnTo>
              </a:path>
              <a:path w="201929" h="193675">
                <a:moveTo>
                  <a:pt x="171294" y="96682"/>
                </a:moveTo>
                <a:lnTo>
                  <a:pt x="140886" y="96806"/>
                </a:lnTo>
                <a:lnTo>
                  <a:pt x="140672" y="129268"/>
                </a:lnTo>
              </a:path>
              <a:path w="201929" h="193675">
                <a:moveTo>
                  <a:pt x="124394" y="129510"/>
                </a:moveTo>
                <a:lnTo>
                  <a:pt x="140672" y="129268"/>
                </a:lnTo>
              </a:path>
              <a:path w="201929" h="193675">
                <a:moveTo>
                  <a:pt x="13255" y="193052"/>
                </a:moveTo>
                <a:lnTo>
                  <a:pt x="11225" y="193138"/>
                </a:lnTo>
                <a:lnTo>
                  <a:pt x="9288" y="192755"/>
                </a:lnTo>
                <a:lnTo>
                  <a:pt x="7444" y="191901"/>
                </a:lnTo>
                <a:lnTo>
                  <a:pt x="5600" y="191048"/>
                </a:lnTo>
                <a:lnTo>
                  <a:pt x="0" y="180817"/>
                </a:lnTo>
                <a:lnTo>
                  <a:pt x="104" y="178845"/>
                </a:lnTo>
                <a:lnTo>
                  <a:pt x="686" y="176899"/>
                </a:lnTo>
              </a:path>
              <a:path w="201929" h="193675">
                <a:moveTo>
                  <a:pt x="337" y="176794"/>
                </a:moveTo>
                <a:lnTo>
                  <a:pt x="320" y="143054"/>
                </a:lnTo>
              </a:path>
              <a:path w="201929" h="193675">
                <a:moveTo>
                  <a:pt x="185791" y="63262"/>
                </a:moveTo>
                <a:lnTo>
                  <a:pt x="151217" y="63276"/>
                </a:lnTo>
              </a:path>
              <a:path w="201929" h="193675">
                <a:moveTo>
                  <a:pt x="17642" y="130087"/>
                </a:moveTo>
                <a:lnTo>
                  <a:pt x="50570" y="130049"/>
                </a:lnTo>
              </a:path>
              <a:path w="201929" h="193675">
                <a:moveTo>
                  <a:pt x="159681" y="158959"/>
                </a:moveTo>
                <a:lnTo>
                  <a:pt x="159729" y="186914"/>
                </a:lnTo>
              </a:path>
              <a:path w="201929" h="193675">
                <a:moveTo>
                  <a:pt x="151211" y="63212"/>
                </a:moveTo>
                <a:lnTo>
                  <a:pt x="149214" y="63423"/>
                </a:lnTo>
                <a:lnTo>
                  <a:pt x="147283" y="63158"/>
                </a:lnTo>
                <a:lnTo>
                  <a:pt x="145418" y="62418"/>
                </a:lnTo>
                <a:lnTo>
                  <a:pt x="143552" y="61677"/>
                </a:lnTo>
                <a:lnTo>
                  <a:pt x="138022" y="53803"/>
                </a:lnTo>
                <a:lnTo>
                  <a:pt x="137572" y="51847"/>
                </a:lnTo>
                <a:lnTo>
                  <a:pt x="137602" y="49898"/>
                </a:lnTo>
                <a:lnTo>
                  <a:pt x="138113" y="47957"/>
                </a:lnTo>
              </a:path>
              <a:path w="201929" h="193675">
                <a:moveTo>
                  <a:pt x="195610" y="183110"/>
                </a:moveTo>
                <a:lnTo>
                  <a:pt x="195506" y="153472"/>
                </a:lnTo>
              </a:path>
              <a:path w="201929" h="193675">
                <a:moveTo>
                  <a:pt x="137836" y="47884"/>
                </a:moveTo>
                <a:lnTo>
                  <a:pt x="137749" y="12923"/>
                </a:lnTo>
              </a:path>
              <a:path w="201929" h="193675">
                <a:moveTo>
                  <a:pt x="154236" y="178"/>
                </a:moveTo>
                <a:lnTo>
                  <a:pt x="188648" y="115"/>
                </a:lnTo>
              </a:path>
              <a:path w="201929" h="193675">
                <a:moveTo>
                  <a:pt x="188647" y="64"/>
                </a:moveTo>
                <a:lnTo>
                  <a:pt x="201585" y="12115"/>
                </a:lnTo>
                <a:lnTo>
                  <a:pt x="201486" y="14046"/>
                </a:lnTo>
                <a:lnTo>
                  <a:pt x="200922" y="15952"/>
                </a:lnTo>
              </a:path>
              <a:path w="201929" h="193675">
                <a:moveTo>
                  <a:pt x="63725" y="147159"/>
                </a:moveTo>
                <a:lnTo>
                  <a:pt x="63664" y="180912"/>
                </a:lnTo>
              </a:path>
              <a:path w="201929" h="193675">
                <a:moveTo>
                  <a:pt x="331" y="17644"/>
                </a:moveTo>
                <a:lnTo>
                  <a:pt x="330" y="50561"/>
                </a:lnTo>
                <a:lnTo>
                  <a:pt x="1395" y="56274"/>
                </a:lnTo>
                <a:lnTo>
                  <a:pt x="5601" y="60715"/>
                </a:lnTo>
                <a:lnTo>
                  <a:pt x="11294" y="63230"/>
                </a:lnTo>
                <a:lnTo>
                  <a:pt x="16819" y="63167"/>
                </a:lnTo>
              </a:path>
              <a:path w="201929" h="193675">
                <a:moveTo>
                  <a:pt x="201265" y="16054"/>
                </a:moveTo>
                <a:lnTo>
                  <a:pt x="201259" y="51875"/>
                </a:lnTo>
              </a:path>
              <a:path w="201929" h="193675">
                <a:moveTo>
                  <a:pt x="16819" y="63167"/>
                </a:moveTo>
                <a:lnTo>
                  <a:pt x="50570" y="63196"/>
                </a:lnTo>
              </a:path>
              <a:path w="201929" h="193675">
                <a:moveTo>
                  <a:pt x="63732" y="45907"/>
                </a:moveTo>
                <a:lnTo>
                  <a:pt x="63697" y="12156"/>
                </a:lnTo>
              </a:path>
            </a:pathLst>
          </a:custGeom>
          <a:ln w="8901">
            <a:solidFill>
              <a:srgbClr val="D9D0E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613849" y="6233200"/>
            <a:ext cx="8953500" cy="1109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b="1">
                <a:solidFill>
                  <a:srgbClr val="D9D0E6"/>
                </a:solidFill>
                <a:latin typeface="Arial"/>
                <a:cs typeface="Arial"/>
              </a:rPr>
              <a:t>script.js</a:t>
            </a:r>
            <a:r>
              <a:rPr dirty="0" sz="2100" spc="30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D9D0E6"/>
                </a:solidFill>
                <a:latin typeface="Arial"/>
                <a:cs typeface="Arial"/>
              </a:rPr>
              <a:t>(7.2</a:t>
            </a:r>
            <a:r>
              <a:rPr dirty="0" sz="2100" spc="3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D9D0E6"/>
                </a:solidFill>
                <a:latin typeface="Arial"/>
                <a:cs typeface="Arial"/>
              </a:rPr>
              <a:t>KB)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36400"/>
              </a:lnSpc>
              <a:spcBef>
                <a:spcPts val="575"/>
              </a:spcBef>
            </a:pPr>
            <a:r>
              <a:rPr dirty="0" sz="1650" spc="80">
                <a:solidFill>
                  <a:srgbClr val="D9D0E6"/>
                </a:solidFill>
                <a:latin typeface="Trebuchet MS"/>
                <a:cs typeface="Trebuchet MS"/>
              </a:rPr>
              <a:t>DOM</a:t>
            </a:r>
            <a:r>
              <a:rPr dirty="0" sz="1650" spc="5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manipulation,</a:t>
            </a:r>
            <a:r>
              <a:rPr dirty="0" sz="1650" spc="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event</a:t>
            </a:r>
            <a:r>
              <a:rPr dirty="0" sz="1650" spc="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handling,</a:t>
            </a:r>
            <a:r>
              <a:rPr dirty="0" sz="1650" spc="60">
                <a:solidFill>
                  <a:srgbClr val="D9D0E6"/>
                </a:solidFill>
                <a:latin typeface="Trebuchet MS"/>
                <a:cs typeface="Trebuchet MS"/>
              </a:rPr>
              <a:t> process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management,</a:t>
            </a:r>
            <a:r>
              <a:rPr dirty="0" sz="1650" spc="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45">
                <a:solidFill>
                  <a:srgbClr val="D9D0E6"/>
                </a:solidFill>
                <a:latin typeface="Trebuchet MS"/>
                <a:cs typeface="Trebuchet MS"/>
              </a:rPr>
              <a:t>simulation</a:t>
            </a:r>
            <a:r>
              <a:rPr dirty="0" sz="1650" spc="5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execution,</a:t>
            </a:r>
            <a:r>
              <a:rPr dirty="0" sz="1650" spc="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7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1650" spc="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D9D0E6"/>
                </a:solidFill>
                <a:latin typeface="Trebuchet MS"/>
                <a:cs typeface="Trebuchet MS"/>
              </a:rPr>
              <a:t>results rendering.</a:t>
            </a:r>
            <a:endParaRPr sz="1650">
              <a:latin typeface="Trebuchet MS"/>
              <a:cs typeface="Trebuchet MS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30973" y="7821977"/>
            <a:ext cx="210225" cy="210109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7613849" y="8306228"/>
            <a:ext cx="9338310" cy="1109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00" b="1">
                <a:solidFill>
                  <a:srgbClr val="D9D0E6"/>
                </a:solidFill>
                <a:latin typeface="Arial"/>
                <a:cs typeface="Arial"/>
              </a:rPr>
              <a:t>algorithms.js</a:t>
            </a:r>
            <a:r>
              <a:rPr dirty="0" sz="2100" spc="30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D9D0E6"/>
                </a:solidFill>
                <a:latin typeface="Arial"/>
                <a:cs typeface="Arial"/>
              </a:rPr>
              <a:t>(8.9</a:t>
            </a:r>
            <a:r>
              <a:rPr dirty="0" sz="2100" spc="3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100" spc="-25" b="1">
                <a:solidFill>
                  <a:srgbClr val="D9D0E6"/>
                </a:solidFill>
                <a:latin typeface="Arial"/>
                <a:cs typeface="Arial"/>
              </a:rPr>
              <a:t>KB)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ct val="136400"/>
              </a:lnSpc>
              <a:spcBef>
                <a:spcPts val="575"/>
              </a:spcBef>
            </a:pPr>
            <a:r>
              <a:rPr dirty="0" sz="1650" spc="10">
                <a:solidFill>
                  <a:srgbClr val="D9D0E6"/>
                </a:solidFill>
                <a:latin typeface="Trebuchet MS"/>
                <a:cs typeface="Trebuchet MS"/>
              </a:rPr>
              <a:t>Implementation</a:t>
            </a:r>
            <a:r>
              <a:rPr dirty="0" sz="16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D9D0E6"/>
                </a:solidFill>
                <a:latin typeface="Trebuchet MS"/>
                <a:cs typeface="Trebuchet MS"/>
              </a:rPr>
              <a:t>of</a:t>
            </a:r>
            <a:r>
              <a:rPr dirty="0" sz="16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D9D0E6"/>
                </a:solidFill>
                <a:latin typeface="Trebuchet MS"/>
                <a:cs typeface="Trebuchet MS"/>
              </a:rPr>
              <a:t>all</a:t>
            </a:r>
            <a:r>
              <a:rPr dirty="0" sz="16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D9D0E6"/>
                </a:solidFill>
                <a:latin typeface="Trebuchet MS"/>
                <a:cs typeface="Trebuchet MS"/>
              </a:rPr>
              <a:t>five algorithms</a:t>
            </a:r>
            <a:r>
              <a:rPr dirty="0" sz="16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16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50">
                <a:solidFill>
                  <a:srgbClr val="D9D0E6"/>
                </a:solidFill>
                <a:latin typeface="Trebuchet MS"/>
                <a:cs typeface="Trebuchet MS"/>
              </a:rPr>
              <a:t>scheduling</a:t>
            </a:r>
            <a:r>
              <a:rPr dirty="0" sz="165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>
                <a:solidFill>
                  <a:srgbClr val="D9D0E6"/>
                </a:solidFill>
                <a:latin typeface="Trebuchet MS"/>
                <a:cs typeface="Trebuchet MS"/>
              </a:rPr>
              <a:t>logic,</a:t>
            </a:r>
            <a:r>
              <a:rPr dirty="0" sz="16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D9D0E6"/>
                </a:solidFill>
                <a:latin typeface="Trebuchet MS"/>
                <a:cs typeface="Trebuchet MS"/>
              </a:rPr>
              <a:t>Gantt</a:t>
            </a:r>
            <a:r>
              <a:rPr dirty="0" sz="16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D9D0E6"/>
                </a:solidFill>
                <a:latin typeface="Trebuchet MS"/>
                <a:cs typeface="Trebuchet MS"/>
              </a:rPr>
              <a:t>chart</a:t>
            </a:r>
            <a:r>
              <a:rPr dirty="0" sz="16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10">
                <a:solidFill>
                  <a:srgbClr val="D9D0E6"/>
                </a:solidFill>
                <a:latin typeface="Trebuchet MS"/>
                <a:cs typeface="Trebuchet MS"/>
              </a:rPr>
              <a:t>generation, </a:t>
            </a:r>
            <a:r>
              <a:rPr dirty="0" sz="1650" spc="7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16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1650" spc="-10">
                <a:solidFill>
                  <a:srgbClr val="D9D0E6"/>
                </a:solidFill>
                <a:latin typeface="Trebuchet MS"/>
                <a:cs typeface="Trebuchet MS"/>
              </a:rPr>
              <a:t>metrics calculation.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7" y="1882292"/>
            <a:ext cx="850582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dirty="0" spc="-40"/>
              <a:t> </a:t>
            </a:r>
            <a:r>
              <a:rPr dirty="0"/>
              <a:t>Performance</a:t>
            </a:r>
            <a:r>
              <a:rPr dirty="0" spc="-30"/>
              <a:t> </a:t>
            </a:r>
            <a:r>
              <a:rPr dirty="0" spc="-10"/>
              <a:t>Metrics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42045" y="2922320"/>
            <a:ext cx="5098415" cy="3735704"/>
          </a:xfrm>
          <a:prstGeom prst="rect">
            <a:avLst/>
          </a:prstGeom>
        </p:spPr>
        <p:txBody>
          <a:bodyPr wrap="square" lIns="0" tIns="560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15"/>
              </a:spcBef>
            </a:pPr>
            <a:r>
              <a:rPr dirty="0" sz="7300" spc="-50" b="1">
                <a:solidFill>
                  <a:srgbClr val="D9D0E6"/>
                </a:solidFill>
                <a:latin typeface="Arial"/>
                <a:cs typeface="Arial"/>
              </a:rPr>
              <a:t>3</a:t>
            </a:r>
            <a:endParaRPr sz="7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620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Core</a:t>
            </a:r>
            <a:r>
              <a:rPr dirty="0" sz="2750" spc="-5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Metrics</a:t>
            </a:r>
            <a:endParaRPr sz="2750">
              <a:latin typeface="Arial"/>
              <a:cs typeface="Arial"/>
            </a:endParaRPr>
          </a:p>
          <a:p>
            <a:pPr algn="ctr" marL="12065" marR="5080">
              <a:lnSpc>
                <a:spcPct val="136600"/>
              </a:lnSpc>
              <a:spcBef>
                <a:spcPts val="63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Completion</a:t>
            </a:r>
            <a:r>
              <a:rPr dirty="0" sz="215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65">
                <a:solidFill>
                  <a:srgbClr val="D9D0E6"/>
                </a:solidFill>
                <a:latin typeface="Trebuchet MS"/>
                <a:cs typeface="Trebuchet MS"/>
              </a:rPr>
              <a:t>Time,</a:t>
            </a:r>
            <a:r>
              <a:rPr dirty="0" sz="2150" spc="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Turnaround</a:t>
            </a:r>
            <a:r>
              <a:rPr dirty="0" sz="215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65">
                <a:solidFill>
                  <a:srgbClr val="D9D0E6"/>
                </a:solidFill>
                <a:latin typeface="Trebuchet MS"/>
                <a:cs typeface="Trebuchet MS"/>
              </a:rPr>
              <a:t>Time,</a:t>
            </a:r>
            <a:r>
              <a:rPr dirty="0" sz="215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and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Waiting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calculated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for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each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process.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19876" y="2922320"/>
            <a:ext cx="4248150" cy="3735704"/>
          </a:xfrm>
          <a:prstGeom prst="rect">
            <a:avLst/>
          </a:prstGeom>
        </p:spPr>
        <p:txBody>
          <a:bodyPr wrap="square" lIns="0" tIns="560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15"/>
              </a:spcBef>
            </a:pPr>
            <a:r>
              <a:rPr dirty="0" sz="7300" spc="-50" b="1">
                <a:solidFill>
                  <a:srgbClr val="D9D0E6"/>
                </a:solidFill>
                <a:latin typeface="Arial"/>
                <a:cs typeface="Arial"/>
              </a:rPr>
              <a:t>5</a:t>
            </a:r>
            <a:endParaRPr sz="7300">
              <a:latin typeface="Arial"/>
              <a:cs typeface="Arial"/>
            </a:endParaRPr>
          </a:p>
          <a:p>
            <a:pPr marL="351790">
              <a:lnSpc>
                <a:spcPct val="100000"/>
              </a:lnSpc>
              <a:spcBef>
                <a:spcPts val="1620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Algorithms</a:t>
            </a:r>
            <a:r>
              <a:rPr dirty="0" sz="2750" spc="-110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Compared</a:t>
            </a:r>
            <a:endParaRPr sz="2750">
              <a:latin typeface="Arial"/>
              <a:cs typeface="Arial"/>
            </a:endParaRPr>
          </a:p>
          <a:p>
            <a:pPr algn="ctr" marL="12700" marR="5080">
              <a:lnSpc>
                <a:spcPct val="136600"/>
              </a:lnSpc>
              <a:spcBef>
                <a:spcPts val="635"/>
              </a:spcBef>
            </a:pPr>
            <a:r>
              <a:rPr dirty="0" sz="2150" spc="-65">
                <a:solidFill>
                  <a:srgbClr val="D9D0E6"/>
                </a:solidFill>
                <a:latin typeface="Trebuchet MS"/>
                <a:cs typeface="Trebuchet MS"/>
              </a:rPr>
              <a:t>FCFS,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45">
                <a:solidFill>
                  <a:srgbClr val="D9D0E6"/>
                </a:solidFill>
                <a:latin typeface="Trebuchet MS"/>
                <a:cs typeface="Trebuchet MS"/>
              </a:rPr>
              <a:t>SJF,</a:t>
            </a:r>
            <a:r>
              <a:rPr dirty="0" sz="2150" spc="-4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50">
                <a:solidFill>
                  <a:srgbClr val="D9D0E6"/>
                </a:solidFill>
                <a:latin typeface="Trebuchet MS"/>
                <a:cs typeface="Trebuchet MS"/>
              </a:rPr>
              <a:t>SRTF,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90">
                <a:solidFill>
                  <a:srgbClr val="D9D0E6"/>
                </a:solidFill>
                <a:latin typeface="Trebuchet MS"/>
                <a:cs typeface="Trebuchet MS"/>
              </a:rPr>
              <a:t>Round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Robin,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and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Priority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scheduling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analyzed simultaneously.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582921" y="2922320"/>
            <a:ext cx="4227830" cy="3735704"/>
          </a:xfrm>
          <a:prstGeom prst="rect">
            <a:avLst/>
          </a:prstGeom>
        </p:spPr>
        <p:txBody>
          <a:bodyPr wrap="square" lIns="0" tIns="560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15"/>
              </a:spcBef>
            </a:pPr>
            <a:r>
              <a:rPr dirty="0" sz="7300" spc="-20" b="1">
                <a:solidFill>
                  <a:srgbClr val="D9D0E6"/>
                </a:solidFill>
                <a:latin typeface="Arial"/>
                <a:cs typeface="Arial"/>
              </a:rPr>
              <a:t>100%</a:t>
            </a:r>
            <a:endParaRPr sz="7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620"/>
              </a:spcBef>
            </a:pP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Accuracy</a:t>
            </a:r>
            <a:endParaRPr sz="2750">
              <a:latin typeface="Arial"/>
              <a:cs typeface="Arial"/>
            </a:endParaRPr>
          </a:p>
          <a:p>
            <a:pPr algn="ctr" marL="12700" marR="5080">
              <a:lnSpc>
                <a:spcPct val="136600"/>
              </a:lnSpc>
              <a:spcBef>
                <a:spcPts val="63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Precise</a:t>
            </a:r>
            <a:r>
              <a:rPr dirty="0" sz="2150" spc="1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calculations</a:t>
            </a:r>
            <a:r>
              <a:rPr dirty="0" sz="2150" spc="1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2150" spc="1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40">
                <a:solidFill>
                  <a:srgbClr val="D9D0E6"/>
                </a:solidFill>
                <a:latin typeface="Trebuchet MS"/>
                <a:cs typeface="Trebuchet MS"/>
              </a:rPr>
              <a:t>proper </a:t>
            </a:r>
            <a:r>
              <a:rPr dirty="0" sz="2150" spc="60">
                <a:solidFill>
                  <a:srgbClr val="D9D0E6"/>
                </a:solidFill>
                <a:latin typeface="Trebuchet MS"/>
                <a:cs typeface="Trebuchet MS"/>
              </a:rPr>
              <a:t>handling</a:t>
            </a:r>
            <a:r>
              <a:rPr dirty="0" sz="2150" spc="-4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of</a:t>
            </a:r>
            <a:r>
              <a:rPr dirty="0" sz="2150" spc="-4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idle</a:t>
            </a:r>
            <a:r>
              <a:rPr dirty="0" sz="2150" spc="-3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2150" spc="-4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 spc="-4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context switching.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79537" y="7083389"/>
            <a:ext cx="7102475" cy="1131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25" b="1">
                <a:solidFill>
                  <a:srgbClr val="D9D0E6"/>
                </a:solidFill>
                <a:latin typeface="Trebuchet MS"/>
                <a:cs typeface="Trebuchet MS"/>
              </a:rPr>
              <a:t>Turnaround</a:t>
            </a:r>
            <a:r>
              <a:rPr dirty="0" sz="2150" spc="-85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70" b="1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2150" spc="-80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14" b="1">
                <a:solidFill>
                  <a:srgbClr val="D9D0E6"/>
                </a:solidFill>
                <a:latin typeface="Trebuchet MS"/>
                <a:cs typeface="Trebuchet MS"/>
              </a:rPr>
              <a:t>(TAT)</a:t>
            </a:r>
            <a:r>
              <a:rPr dirty="0" sz="2150" spc="-20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=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Completion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5">
                <a:solidFill>
                  <a:srgbClr val="D9D0E6"/>
                </a:solidFill>
                <a:latin typeface="Trebuchet MS"/>
                <a:cs typeface="Trebuchet MS"/>
              </a:rPr>
              <a:t>-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Arrival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endParaRPr sz="2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2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150" b="1">
                <a:solidFill>
                  <a:srgbClr val="D9D0E6"/>
                </a:solidFill>
                <a:latin typeface="Trebuchet MS"/>
                <a:cs typeface="Trebuchet MS"/>
              </a:rPr>
              <a:t>Waiting</a:t>
            </a:r>
            <a:r>
              <a:rPr dirty="0" sz="2150" spc="-140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70" b="1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2150" spc="-130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95" b="1">
                <a:solidFill>
                  <a:srgbClr val="D9D0E6"/>
                </a:solidFill>
                <a:latin typeface="Trebuchet MS"/>
                <a:cs typeface="Trebuchet MS"/>
              </a:rPr>
              <a:t>(WT)</a:t>
            </a:r>
            <a:r>
              <a:rPr dirty="0" sz="2150" spc="-70" b="1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=</a:t>
            </a:r>
            <a:r>
              <a:rPr dirty="0" sz="2150" spc="-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Turnaround</a:t>
            </a:r>
            <a:r>
              <a:rPr dirty="0" sz="2150" spc="-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2150" spc="-7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5">
                <a:solidFill>
                  <a:srgbClr val="D9D0E6"/>
                </a:solidFill>
                <a:latin typeface="Trebuchet MS"/>
                <a:cs typeface="Trebuchet MS"/>
              </a:rPr>
              <a:t>-</a:t>
            </a:r>
            <a:r>
              <a:rPr dirty="0" sz="2150" spc="-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Burst</a:t>
            </a:r>
            <a:r>
              <a:rPr dirty="0" sz="2150" spc="-7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9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9537" y="1235634"/>
            <a:ext cx="477583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Core</a:t>
            </a:r>
            <a:r>
              <a:rPr dirty="0" spc="-25"/>
              <a:t> </a:t>
            </a:r>
            <a:r>
              <a:rPr dirty="0" spc="-10"/>
              <a:t>Features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979537" y="2852553"/>
            <a:ext cx="2159635" cy="87312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20"/>
              </a:spcBef>
            </a:pPr>
            <a:r>
              <a:rPr dirty="0" sz="2750" spc="-10" b="1">
                <a:solidFill>
                  <a:srgbClr val="F94BAF"/>
                </a:solidFill>
                <a:latin typeface="Arial"/>
                <a:cs typeface="Arial"/>
              </a:rPr>
              <a:t>Process Management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7487" y="4180582"/>
            <a:ext cx="85725" cy="857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7487" y="6094212"/>
            <a:ext cx="85725" cy="857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7487" y="7100589"/>
            <a:ext cx="85725" cy="8572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309340" y="3909107"/>
            <a:ext cx="2328545" cy="38411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72720">
              <a:lnSpc>
                <a:spcPct val="136600"/>
              </a:lnSpc>
              <a:spcBef>
                <a:spcPts val="90"/>
              </a:spcBef>
            </a:pP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Add</a:t>
            </a:r>
            <a:r>
              <a:rPr dirty="0" sz="2150" spc="-7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processes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arrival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40">
                <a:solidFill>
                  <a:srgbClr val="D9D0E6"/>
                </a:solidFill>
                <a:latin typeface="Trebuchet MS"/>
                <a:cs typeface="Trebuchet MS"/>
              </a:rPr>
              <a:t>time,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burst</a:t>
            </a:r>
            <a:r>
              <a:rPr dirty="0" sz="2150" spc="17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time, priority</a:t>
            </a:r>
            <a:endParaRPr sz="2150">
              <a:latin typeface="Trebuchet MS"/>
              <a:cs typeface="Trebuchet MS"/>
            </a:endParaRPr>
          </a:p>
          <a:p>
            <a:pPr marL="12700" marR="159385">
              <a:lnSpc>
                <a:spcPct val="136600"/>
              </a:lnSpc>
              <a:spcBef>
                <a:spcPts val="969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Delete</a:t>
            </a:r>
            <a:r>
              <a:rPr dirty="0" sz="2150" spc="-4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individual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processes</a:t>
            </a:r>
            <a:endParaRPr sz="2150">
              <a:latin typeface="Trebuchet MS"/>
              <a:cs typeface="Trebuchet MS"/>
            </a:endParaRPr>
          </a:p>
          <a:p>
            <a:pPr marL="12700" marR="5080">
              <a:lnSpc>
                <a:spcPct val="136600"/>
              </a:lnSpc>
              <a:spcBef>
                <a:spcPts val="87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View</a:t>
            </a:r>
            <a:r>
              <a:rPr dirty="0" sz="2150" spc="-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all</a:t>
            </a:r>
            <a:r>
              <a:rPr dirty="0" sz="2150" spc="-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processes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in</a:t>
            </a:r>
            <a:r>
              <a:rPr dirty="0" sz="2150" spc="-7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table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7487" y="8560593"/>
            <a:ext cx="85725" cy="8572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309340" y="8403494"/>
            <a:ext cx="175577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Reset</a:t>
            </a:r>
            <a:r>
              <a:rPr dirty="0" sz="2150" spc="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all</a:t>
            </a:r>
            <a:r>
              <a:rPr dirty="0" sz="2150" spc="2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data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2222" y="3737670"/>
            <a:ext cx="85725" cy="857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2222" y="4744044"/>
            <a:ext cx="85725" cy="8572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2222" y="5750421"/>
            <a:ext cx="85725" cy="857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42222" y="6756797"/>
            <a:ext cx="85725" cy="85724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4334272" y="2852553"/>
            <a:ext cx="2472690" cy="4553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10" b="1">
                <a:solidFill>
                  <a:srgbClr val="F94BAF"/>
                </a:solidFill>
                <a:latin typeface="Arial"/>
                <a:cs typeface="Arial"/>
              </a:rPr>
              <a:t>Visualization</a:t>
            </a:r>
            <a:endParaRPr sz="2750">
              <a:latin typeface="Arial"/>
              <a:cs typeface="Arial"/>
            </a:endParaRPr>
          </a:p>
          <a:p>
            <a:pPr marL="342265" marR="5080">
              <a:lnSpc>
                <a:spcPct val="136600"/>
              </a:lnSpc>
              <a:spcBef>
                <a:spcPts val="152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Interactive</a:t>
            </a:r>
            <a:r>
              <a:rPr dirty="0" sz="2150" spc="-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Gantt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charts</a:t>
            </a:r>
            <a:endParaRPr sz="2150">
              <a:latin typeface="Trebuchet MS"/>
              <a:cs typeface="Trebuchet MS"/>
            </a:endParaRPr>
          </a:p>
          <a:p>
            <a:pPr marL="342265" marR="257175">
              <a:lnSpc>
                <a:spcPct val="136600"/>
              </a:lnSpc>
              <a:spcBef>
                <a:spcPts val="87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Color-</a:t>
            </a:r>
            <a:r>
              <a:rPr dirty="0" sz="2150" spc="35">
                <a:solidFill>
                  <a:srgbClr val="D9D0E6"/>
                </a:solidFill>
                <a:latin typeface="Trebuchet MS"/>
                <a:cs typeface="Trebuchet MS"/>
              </a:rPr>
              <a:t>coded </a:t>
            </a:r>
            <a:r>
              <a:rPr dirty="0" sz="2150" spc="65">
                <a:solidFill>
                  <a:srgbClr val="D9D0E6"/>
                </a:solidFill>
                <a:latin typeface="Trebuchet MS"/>
                <a:cs typeface="Trebuchet MS"/>
              </a:rPr>
              <a:t>process</a:t>
            </a:r>
            <a:r>
              <a:rPr dirty="0" sz="2150" spc="-6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45">
                <a:solidFill>
                  <a:srgbClr val="D9D0E6"/>
                </a:solidFill>
                <a:latin typeface="Trebuchet MS"/>
                <a:cs typeface="Trebuchet MS"/>
              </a:rPr>
              <a:t>blocks</a:t>
            </a:r>
            <a:endParaRPr sz="2150">
              <a:latin typeface="Trebuchet MS"/>
              <a:cs typeface="Trebuchet MS"/>
            </a:endParaRPr>
          </a:p>
          <a:p>
            <a:pPr marL="342265" marR="322580">
              <a:lnSpc>
                <a:spcPct val="136600"/>
              </a:lnSpc>
              <a:spcBef>
                <a:spcPts val="87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Hover</a:t>
            </a:r>
            <a:r>
              <a:rPr dirty="0" sz="2150" spc="1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tooltips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2150" spc="-8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timing</a:t>
            </a:r>
            <a:endParaRPr sz="2150">
              <a:latin typeface="Trebuchet MS"/>
              <a:cs typeface="Trebuchet MS"/>
            </a:endParaRPr>
          </a:p>
          <a:p>
            <a:pPr marL="342265" marR="392430">
              <a:lnSpc>
                <a:spcPct val="136600"/>
              </a:lnSpc>
              <a:spcBef>
                <a:spcPts val="87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Time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ruler</a:t>
            </a:r>
            <a:r>
              <a:rPr dirty="0" sz="2150" spc="-5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for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reference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96955" y="3737670"/>
            <a:ext cx="85725" cy="85724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96955" y="4744044"/>
            <a:ext cx="85725" cy="85724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96955" y="5750421"/>
            <a:ext cx="85725" cy="85724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96955" y="6303168"/>
            <a:ext cx="85725" cy="85724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7689005" y="2852553"/>
            <a:ext cx="2430145" cy="4100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10" b="1">
                <a:solidFill>
                  <a:srgbClr val="F94BAF"/>
                </a:solidFill>
                <a:latin typeface="Arial"/>
                <a:cs typeface="Arial"/>
              </a:rPr>
              <a:t>Analysis</a:t>
            </a:r>
            <a:endParaRPr sz="2750">
              <a:latin typeface="Arial"/>
              <a:cs typeface="Arial"/>
            </a:endParaRPr>
          </a:p>
          <a:p>
            <a:pPr marL="342265" marR="9525">
              <a:lnSpc>
                <a:spcPct val="136600"/>
              </a:lnSpc>
              <a:spcBef>
                <a:spcPts val="152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Detailed</a:t>
            </a:r>
            <a:r>
              <a:rPr dirty="0" sz="215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metrics table</a:t>
            </a:r>
            <a:endParaRPr sz="2150">
              <a:latin typeface="Trebuchet MS"/>
              <a:cs typeface="Trebuchet MS"/>
            </a:endParaRPr>
          </a:p>
          <a:p>
            <a:pPr marL="342265" marR="5080">
              <a:lnSpc>
                <a:spcPct val="136600"/>
              </a:lnSpc>
              <a:spcBef>
                <a:spcPts val="875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Average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0">
                <a:solidFill>
                  <a:srgbClr val="D9D0E6"/>
                </a:solidFill>
                <a:latin typeface="Trebuchet MS"/>
                <a:cs typeface="Trebuchet MS"/>
              </a:rPr>
              <a:t>TAT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and 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WT</a:t>
            </a:r>
            <a:endParaRPr sz="2150">
              <a:latin typeface="Trebuchet MS"/>
              <a:cs typeface="Trebuchet MS"/>
            </a:endParaRPr>
          </a:p>
          <a:p>
            <a:pPr marL="342265">
              <a:lnSpc>
                <a:spcPct val="100000"/>
              </a:lnSpc>
              <a:spcBef>
                <a:spcPts val="182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CPU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utilization</a:t>
            </a:r>
            <a:endParaRPr sz="2150">
              <a:latin typeface="Trebuchet MS"/>
              <a:cs typeface="Trebuchet MS"/>
            </a:endParaRPr>
          </a:p>
          <a:p>
            <a:pPr marL="342265" marR="589915">
              <a:lnSpc>
                <a:spcPct val="136600"/>
              </a:lnSpc>
              <a:spcBef>
                <a:spcPts val="825"/>
              </a:spcBef>
            </a:pP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Algorithm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comparison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4979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Use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 spc="-10"/>
              <a:t>Simulator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237" y="2648544"/>
            <a:ext cx="16302890" cy="113406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63054" y="3782999"/>
            <a:ext cx="7523480" cy="166687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Add</a:t>
            </a:r>
            <a:r>
              <a:rPr dirty="0" sz="2750" spc="-3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Processes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Enter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arrival 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time,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burst 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time,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 priority for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each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process.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Click</a:t>
            </a:r>
            <a:r>
              <a:rPr dirty="0" sz="2150" spc="-6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"Add</a:t>
            </a:r>
            <a:r>
              <a:rPr dirty="0" sz="2150" spc="-6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D9D0E6"/>
                </a:solidFill>
                <a:latin typeface="Trebuchet MS"/>
                <a:cs typeface="Trebuchet MS"/>
              </a:rPr>
              <a:t>Process"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to</a:t>
            </a:r>
            <a:r>
              <a:rPr dirty="0" sz="2150" spc="-6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build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your</a:t>
            </a:r>
            <a:r>
              <a:rPr dirty="0" sz="2150" spc="-6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queue.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414817" y="3782999"/>
            <a:ext cx="7348220" cy="166687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Configure</a:t>
            </a:r>
            <a:r>
              <a:rPr dirty="0" sz="2750" spc="-80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Algorithm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Select</a:t>
            </a:r>
            <a:r>
              <a:rPr dirty="0" sz="21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from five</a:t>
            </a:r>
            <a:r>
              <a:rPr dirty="0" sz="21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algorithms.</a:t>
            </a:r>
            <a:r>
              <a:rPr dirty="0" sz="21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For </a:t>
            </a:r>
            <a:r>
              <a:rPr dirty="0" sz="2150" spc="90">
                <a:solidFill>
                  <a:srgbClr val="D9D0E6"/>
                </a:solidFill>
                <a:latin typeface="Trebuchet MS"/>
                <a:cs typeface="Trebuchet MS"/>
              </a:rPr>
              <a:t>Round</a:t>
            </a:r>
            <a:r>
              <a:rPr dirty="0" sz="21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Robin,</a:t>
            </a:r>
            <a:r>
              <a:rPr dirty="0" sz="2150" spc="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specify 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time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quantum</a:t>
            </a:r>
            <a:r>
              <a:rPr dirty="0" sz="2150" spc="-3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50">
                <a:solidFill>
                  <a:srgbClr val="D9D0E6"/>
                </a:solidFill>
                <a:latin typeface="Trebuchet MS"/>
                <a:cs typeface="Trebuchet MS"/>
              </a:rPr>
              <a:t>(e.g.,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 2).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2237" y="5869929"/>
            <a:ext cx="16302890" cy="1134069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63054" y="7004381"/>
            <a:ext cx="7196455" cy="166687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Run</a:t>
            </a:r>
            <a:r>
              <a:rPr dirty="0" sz="2750" spc="-3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Simulation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Click</a:t>
            </a:r>
            <a:r>
              <a:rPr dirty="0" sz="2150" spc="-9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D9D0E6"/>
                </a:solidFill>
                <a:latin typeface="Trebuchet MS"/>
                <a:cs typeface="Trebuchet MS"/>
              </a:rPr>
              <a:t>"Simulate"</a:t>
            </a:r>
            <a:r>
              <a:rPr dirty="0" sz="2150" spc="-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to</a:t>
            </a:r>
            <a:r>
              <a:rPr dirty="0" sz="2150" spc="-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30">
                <a:solidFill>
                  <a:srgbClr val="D9D0E6"/>
                </a:solidFill>
                <a:latin typeface="Trebuchet MS"/>
                <a:cs typeface="Trebuchet MS"/>
              </a:rPr>
              <a:t>execute.</a:t>
            </a:r>
            <a:r>
              <a:rPr dirty="0" sz="2150" spc="-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View</a:t>
            </a:r>
            <a:r>
              <a:rPr dirty="0" sz="2150" spc="-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Gantt</a:t>
            </a:r>
            <a:r>
              <a:rPr dirty="0" sz="2150" spc="-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chart</a:t>
            </a:r>
            <a:r>
              <a:rPr dirty="0" sz="2150" spc="-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 spc="-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metrics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table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0">
                <a:solidFill>
                  <a:srgbClr val="D9D0E6"/>
                </a:solidFill>
                <a:latin typeface="Trebuchet MS"/>
                <a:cs typeface="Trebuchet MS"/>
              </a:rPr>
              <a:t>TAT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5">
                <a:solidFill>
                  <a:srgbClr val="D9D0E6"/>
                </a:solidFill>
                <a:latin typeface="Trebuchet MS"/>
                <a:cs typeface="Trebuchet MS"/>
              </a:rPr>
              <a:t>WT.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414817" y="7004381"/>
            <a:ext cx="7172325" cy="1666875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Compare</a:t>
            </a:r>
            <a:r>
              <a:rPr dirty="0" sz="2750" spc="-9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Results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Click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"Compare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75">
                <a:solidFill>
                  <a:srgbClr val="D9D0E6"/>
                </a:solidFill>
                <a:latin typeface="Trebuchet MS"/>
                <a:cs typeface="Trebuchet MS"/>
              </a:rPr>
              <a:t>&amp;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65">
                <a:solidFill>
                  <a:srgbClr val="D9D0E6"/>
                </a:solidFill>
                <a:latin typeface="Trebuchet MS"/>
                <a:cs typeface="Trebuchet MS"/>
              </a:rPr>
              <a:t>Recommend"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to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D9D0E6"/>
                </a:solidFill>
                <a:latin typeface="Trebuchet MS"/>
                <a:cs typeface="Trebuchet MS"/>
              </a:rPr>
              <a:t>run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all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algorithms</a:t>
            </a:r>
            <a:r>
              <a:rPr dirty="0" sz="2150" spc="-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and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see</a:t>
            </a:r>
            <a:r>
              <a:rPr dirty="0" sz="21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the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optimal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choice</a:t>
            </a:r>
            <a:r>
              <a:rPr dirty="0" sz="21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highlighted.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7" y="3228741"/>
            <a:ext cx="6658609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dirty="0" spc="-45"/>
              <a:t> </a:t>
            </a:r>
            <a:r>
              <a:rPr dirty="0" spc="-10"/>
              <a:t>Outcomes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9537" y="4741598"/>
            <a:ext cx="4987290" cy="2114550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Algorithm</a:t>
            </a:r>
            <a:r>
              <a:rPr dirty="0" sz="2750" spc="-10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Mastery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Deep</a:t>
            </a:r>
            <a:r>
              <a:rPr dirty="0" sz="21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understanding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of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preemptive</a:t>
            </a:r>
            <a:r>
              <a:rPr dirty="0" sz="2150" spc="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0">
                <a:solidFill>
                  <a:srgbClr val="D9D0E6"/>
                </a:solidFill>
                <a:latin typeface="Trebuchet MS"/>
                <a:cs typeface="Trebuchet MS"/>
              </a:rPr>
              <a:t>vs </a:t>
            </a:r>
            <a:r>
              <a:rPr dirty="0" sz="2150" spc="100">
                <a:solidFill>
                  <a:srgbClr val="D9D0E6"/>
                </a:solidFill>
                <a:latin typeface="Trebuchet MS"/>
                <a:cs typeface="Trebuchet MS"/>
              </a:rPr>
              <a:t>non-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preemptive</a:t>
            </a:r>
            <a:r>
              <a:rPr dirty="0" sz="2150" spc="2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scheduling,</a:t>
            </a:r>
            <a:r>
              <a:rPr dirty="0" sz="2150" spc="2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trade-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offs, </a:t>
            </a:r>
            <a:r>
              <a:rPr dirty="0" sz="2150" spc="80">
                <a:solidFill>
                  <a:srgbClr val="D9D0E6"/>
                </a:solidFill>
                <a:latin typeface="Trebuchet MS"/>
                <a:cs typeface="Trebuchet MS"/>
              </a:rPr>
              <a:t>and</a:t>
            </a:r>
            <a:r>
              <a:rPr dirty="0" sz="2150" spc="8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optimization</a:t>
            </a:r>
            <a:r>
              <a:rPr dirty="0" sz="2150" spc="9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strategies.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32166" y="4741598"/>
            <a:ext cx="4956810" cy="2114550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Programming</a:t>
            </a:r>
            <a:r>
              <a:rPr dirty="0" sz="2750" spc="-14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Skills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JavaScript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ES6+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features,</a:t>
            </a:r>
            <a:r>
              <a:rPr dirty="0" sz="2150" spc="-4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modular</a:t>
            </a:r>
            <a:r>
              <a:rPr dirty="0" sz="2150" spc="-4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code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organization,</a:t>
            </a:r>
            <a:r>
              <a:rPr dirty="0" sz="2150" spc="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100">
                <a:solidFill>
                  <a:srgbClr val="D9D0E6"/>
                </a:solidFill>
                <a:latin typeface="Trebuchet MS"/>
                <a:cs typeface="Trebuchet MS"/>
              </a:rPr>
              <a:t>DOM</a:t>
            </a:r>
            <a:r>
              <a:rPr dirty="0" sz="2150" spc="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manipulation,</a:t>
            </a:r>
            <a:r>
              <a:rPr dirty="0" sz="2150" spc="9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and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state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management.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084793" y="4741598"/>
            <a:ext cx="4881880" cy="2114550"/>
          </a:xfrm>
          <a:prstGeom prst="rect">
            <a:avLst/>
          </a:prstGeom>
        </p:spPr>
        <p:txBody>
          <a:bodyPr wrap="square" lIns="0" tIns="2584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dirty="0" sz="2750" b="1">
                <a:solidFill>
                  <a:srgbClr val="D9D0E6"/>
                </a:solidFill>
                <a:latin typeface="Arial"/>
                <a:cs typeface="Arial"/>
              </a:rPr>
              <a:t>Web</a:t>
            </a:r>
            <a:r>
              <a:rPr dirty="0" sz="2750" spc="-45" b="1">
                <a:solidFill>
                  <a:srgbClr val="D9D0E6"/>
                </a:solidFill>
                <a:latin typeface="Arial"/>
                <a:cs typeface="Arial"/>
              </a:rPr>
              <a:t> </a:t>
            </a:r>
            <a:r>
              <a:rPr dirty="0" sz="2750" spc="-10" b="1">
                <a:solidFill>
                  <a:srgbClr val="D9D0E6"/>
                </a:solidFill>
                <a:latin typeface="Arial"/>
                <a:cs typeface="Arial"/>
              </a:rPr>
              <a:t>Development</a:t>
            </a:r>
            <a:endParaRPr sz="2750">
              <a:latin typeface="Arial"/>
              <a:cs typeface="Arial"/>
            </a:endParaRPr>
          </a:p>
          <a:p>
            <a:pPr marL="12700" marR="5080">
              <a:lnSpc>
                <a:spcPct val="136600"/>
              </a:lnSpc>
              <a:spcBef>
                <a:spcPts val="630"/>
              </a:spcBef>
            </a:pPr>
            <a:r>
              <a:rPr dirty="0" sz="2150" spc="65">
                <a:solidFill>
                  <a:srgbClr val="D9D0E6"/>
                </a:solidFill>
                <a:latin typeface="Trebuchet MS"/>
                <a:cs typeface="Trebuchet MS"/>
              </a:rPr>
              <a:t>Responsive</a:t>
            </a:r>
            <a:r>
              <a:rPr dirty="0" sz="2150" spc="-6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D9D0E6"/>
                </a:solidFill>
                <a:latin typeface="Trebuchet MS"/>
                <a:cs typeface="Trebuchet MS"/>
              </a:rPr>
              <a:t>design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70">
                <a:solidFill>
                  <a:srgbClr val="D9D0E6"/>
                </a:solidFill>
                <a:latin typeface="Trebuchet MS"/>
                <a:cs typeface="Trebuchet MS"/>
              </a:rPr>
              <a:t>CSS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Grid</a:t>
            </a:r>
            <a:r>
              <a:rPr dirty="0" sz="2150" spc="-6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and </a:t>
            </a:r>
            <a:r>
              <a:rPr dirty="0" sz="2150" spc="-20">
                <a:solidFill>
                  <a:srgbClr val="D9D0E6"/>
                </a:solidFill>
                <a:latin typeface="Trebuchet MS"/>
                <a:cs typeface="Trebuchet MS"/>
              </a:rPr>
              <a:t>Flexbox,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60">
                <a:solidFill>
                  <a:srgbClr val="D9D0E6"/>
                </a:solidFill>
                <a:latin typeface="Trebuchet MS"/>
                <a:cs typeface="Trebuchet MS"/>
              </a:rPr>
              <a:t>modern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UI/UX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principles,</a:t>
            </a:r>
            <a:r>
              <a:rPr dirty="0" sz="2150" spc="-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55">
                <a:solidFill>
                  <a:srgbClr val="D9D0E6"/>
                </a:solidFill>
                <a:latin typeface="Trebuchet MS"/>
                <a:cs typeface="Trebuchet MS"/>
              </a:rPr>
              <a:t>and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data</a:t>
            </a:r>
            <a:r>
              <a:rPr dirty="0" sz="2150" spc="19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>
                <a:solidFill>
                  <a:srgbClr val="D9D0E6"/>
                </a:solidFill>
                <a:latin typeface="Trebuchet MS"/>
                <a:cs typeface="Trebuchet MS"/>
              </a:rPr>
              <a:t>visualization</a:t>
            </a:r>
            <a:r>
              <a:rPr dirty="0" sz="2150" spc="19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150" spc="-10">
                <a:solidFill>
                  <a:srgbClr val="D9D0E6"/>
                </a:solidFill>
                <a:latin typeface="Trebuchet MS"/>
                <a:cs typeface="Trebuchet MS"/>
              </a:rPr>
              <a:t>techniques.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4589" cy="32328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472" y="3885207"/>
            <a:ext cx="9922510" cy="7969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050"/>
              <a:t>Project Success &amp; Future </a:t>
            </a:r>
            <a:r>
              <a:rPr dirty="0" sz="5050" spc="-10"/>
              <a:t>Vision</a:t>
            </a:r>
            <a:endParaRPr sz="5050"/>
          </a:p>
        </p:txBody>
      </p:sp>
      <p:sp>
        <p:nvSpPr>
          <p:cNvPr id="4" name="object 4" descr=""/>
          <p:cNvSpPr txBox="1"/>
          <p:nvPr/>
        </p:nvSpPr>
        <p:spPr>
          <a:xfrm>
            <a:off x="1280318" y="5283881"/>
            <a:ext cx="15100300" cy="844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400"/>
              </a:lnSpc>
              <a:spcBef>
                <a:spcPts val="100"/>
              </a:spcBef>
            </a:pP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This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CPU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Scheduler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successfully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demonstrates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five</a:t>
            </a:r>
            <a:r>
              <a:rPr dirty="0" sz="2000" spc="15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major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scheduling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algorithms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with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accurate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calculations,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clear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visualization,</a:t>
            </a:r>
            <a:r>
              <a:rPr dirty="0" sz="2000" spc="2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30">
                <a:solidFill>
                  <a:srgbClr val="D9D0E6"/>
                </a:solidFill>
                <a:latin typeface="Trebuchet MS"/>
                <a:cs typeface="Trebuchet MS"/>
              </a:rPr>
              <a:t>and </a:t>
            </a:r>
            <a:r>
              <a:rPr dirty="0" sz="2000">
                <a:solidFill>
                  <a:srgbClr val="D9D0E6"/>
                </a:solidFill>
                <a:latin typeface="Trebuchet MS"/>
                <a:cs typeface="Trebuchet MS"/>
              </a:rPr>
              <a:t>professional</a:t>
            </a:r>
            <a:r>
              <a:rPr dirty="0" sz="2000" spc="1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interface</a:t>
            </a:r>
            <a:r>
              <a:rPr dirty="0" sz="2000" spc="110">
                <a:solidFill>
                  <a:srgbClr val="D9D0E6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D9D0E6"/>
                </a:solidFill>
                <a:latin typeface="Trebuchet MS"/>
                <a:cs typeface="Trebuchet MS"/>
              </a:rPr>
              <a:t>design.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05172" y="5142308"/>
            <a:ext cx="28575" cy="1409700"/>
          </a:xfrm>
          <a:custGeom>
            <a:avLst/>
            <a:gdLst/>
            <a:ahLst/>
            <a:cxnLst/>
            <a:rect l="l" t="t" r="r" b="b"/>
            <a:pathLst>
              <a:path w="28575" h="1409700">
                <a:moveTo>
                  <a:pt x="28575" y="1409104"/>
                </a:moveTo>
                <a:lnTo>
                  <a:pt x="0" y="1409104"/>
                </a:lnTo>
                <a:lnTo>
                  <a:pt x="0" y="0"/>
                </a:lnTo>
                <a:lnTo>
                  <a:pt x="28575" y="0"/>
                </a:lnTo>
                <a:lnTo>
                  <a:pt x="28575" y="1409104"/>
                </a:lnTo>
                <a:close/>
              </a:path>
            </a:pathLst>
          </a:custGeom>
          <a:solidFill>
            <a:srgbClr val="F94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05172" y="6842223"/>
            <a:ext cx="5320030" cy="2731770"/>
          </a:xfrm>
          <a:custGeom>
            <a:avLst/>
            <a:gdLst/>
            <a:ahLst/>
            <a:cxnLst/>
            <a:rect l="l" t="t" r="r" b="b"/>
            <a:pathLst>
              <a:path w="5320030" h="2731770">
                <a:moveTo>
                  <a:pt x="5281326" y="2731144"/>
                </a:moveTo>
                <a:lnTo>
                  <a:pt x="38766" y="2731144"/>
                </a:lnTo>
                <a:lnTo>
                  <a:pt x="23668" y="2728059"/>
                </a:lnTo>
                <a:lnTo>
                  <a:pt x="11346" y="2719756"/>
                </a:lnTo>
                <a:lnTo>
                  <a:pt x="3043" y="2707434"/>
                </a:lnTo>
                <a:lnTo>
                  <a:pt x="0" y="2692336"/>
                </a:lnTo>
                <a:lnTo>
                  <a:pt x="0" y="38766"/>
                </a:lnTo>
                <a:lnTo>
                  <a:pt x="3043" y="23668"/>
                </a:lnTo>
                <a:lnTo>
                  <a:pt x="11346" y="11346"/>
                </a:lnTo>
                <a:lnTo>
                  <a:pt x="23668" y="3043"/>
                </a:lnTo>
                <a:lnTo>
                  <a:pt x="38766" y="0"/>
                </a:lnTo>
                <a:lnTo>
                  <a:pt x="5281326" y="0"/>
                </a:lnTo>
                <a:lnTo>
                  <a:pt x="5296425" y="3043"/>
                </a:lnTo>
                <a:lnTo>
                  <a:pt x="5308746" y="11346"/>
                </a:lnTo>
                <a:lnTo>
                  <a:pt x="5317049" y="23668"/>
                </a:lnTo>
                <a:lnTo>
                  <a:pt x="5319547" y="36056"/>
                </a:lnTo>
                <a:lnTo>
                  <a:pt x="5319547" y="2695046"/>
                </a:lnTo>
                <a:lnTo>
                  <a:pt x="5317049" y="2707434"/>
                </a:lnTo>
                <a:lnTo>
                  <a:pt x="5308746" y="2719756"/>
                </a:lnTo>
                <a:lnTo>
                  <a:pt x="5296425" y="2728059"/>
                </a:lnTo>
                <a:lnTo>
                  <a:pt x="5281326" y="2731144"/>
                </a:lnTo>
                <a:close/>
              </a:path>
            </a:pathLst>
          </a:custGeom>
          <a:solidFill>
            <a:srgbClr val="F94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50987" y="6837088"/>
            <a:ext cx="4268470" cy="2337435"/>
          </a:xfrm>
          <a:prstGeom prst="rect">
            <a:avLst/>
          </a:prstGeom>
        </p:spPr>
        <p:txBody>
          <a:bodyPr wrap="square" lIns="0" tIns="233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z="2500" spc="-10" b="1">
                <a:latin typeface="Arial"/>
                <a:cs typeface="Arial"/>
              </a:rPr>
              <a:t>Achievements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34400"/>
              </a:lnSpc>
              <a:spcBef>
                <a:spcPts val="565"/>
              </a:spcBef>
            </a:pPr>
            <a:r>
              <a:rPr dirty="0" sz="2000">
                <a:latin typeface="Trebuchet MS"/>
                <a:cs typeface="Trebuchet MS"/>
              </a:rPr>
              <a:t>All</a:t>
            </a:r>
            <a:r>
              <a:rPr dirty="0" sz="2000" spc="-114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objectives</a:t>
            </a:r>
            <a:r>
              <a:rPr dirty="0" sz="2000" spc="-95">
                <a:latin typeface="Trebuchet MS"/>
                <a:cs typeface="Trebuchet MS"/>
              </a:rPr>
              <a:t> </a:t>
            </a:r>
            <a:r>
              <a:rPr dirty="0" sz="2000" spc="-75">
                <a:latin typeface="Trebuchet MS"/>
                <a:cs typeface="Trebuchet MS"/>
              </a:rPr>
              <a:t>met: </a:t>
            </a:r>
            <a:r>
              <a:rPr dirty="0" sz="2000" spc="-10">
                <a:latin typeface="Trebuchet MS"/>
                <a:cs typeface="Trebuchet MS"/>
              </a:rPr>
              <a:t>correct</a:t>
            </a:r>
            <a:r>
              <a:rPr dirty="0" sz="2000" spc="-9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algorithm </a:t>
            </a:r>
            <a:r>
              <a:rPr dirty="0" sz="2000">
                <a:latin typeface="Trebuchet MS"/>
                <a:cs typeface="Trebuchet MS"/>
              </a:rPr>
              <a:t>implementation,</a:t>
            </a:r>
            <a:r>
              <a:rPr dirty="0" sz="2000" spc="-1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accurate</a:t>
            </a:r>
            <a:r>
              <a:rPr dirty="0" sz="2000" spc="-1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metrics, interactive</a:t>
            </a:r>
            <a:r>
              <a:rPr dirty="0" sz="2000" spc="-100">
                <a:latin typeface="Trebuchet MS"/>
                <a:cs typeface="Trebuchet MS"/>
              </a:rPr>
              <a:t> </a:t>
            </a:r>
            <a:r>
              <a:rPr dirty="0" sz="2000" spc="-20">
                <a:latin typeface="Trebuchet MS"/>
                <a:cs typeface="Trebuchet MS"/>
              </a:rPr>
              <a:t>Gantt</a:t>
            </a:r>
            <a:r>
              <a:rPr dirty="0" sz="2000" spc="-100">
                <a:latin typeface="Trebuchet MS"/>
                <a:cs typeface="Trebuchet MS"/>
              </a:rPr>
              <a:t> </a:t>
            </a:r>
            <a:r>
              <a:rPr dirty="0" sz="2000" spc="-25">
                <a:latin typeface="Trebuchet MS"/>
                <a:cs typeface="Trebuchet MS"/>
              </a:rPr>
              <a:t>charts,</a:t>
            </a:r>
            <a:r>
              <a:rPr dirty="0" sz="2000" spc="-95">
                <a:latin typeface="Trebuchet MS"/>
                <a:cs typeface="Trebuchet MS"/>
              </a:rPr>
              <a:t> </a:t>
            </a:r>
            <a:r>
              <a:rPr dirty="0" sz="2000" spc="55">
                <a:latin typeface="Trebuchet MS"/>
                <a:cs typeface="Trebuchet MS"/>
              </a:rPr>
              <a:t>and</a:t>
            </a:r>
            <a:r>
              <a:rPr dirty="0" sz="2000" spc="-10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optimal </a:t>
            </a:r>
            <a:r>
              <a:rPr dirty="0" sz="2000">
                <a:latin typeface="Trebuchet MS"/>
                <a:cs typeface="Trebuchet MS"/>
              </a:rPr>
              <a:t>algorithm</a:t>
            </a:r>
            <a:r>
              <a:rPr dirty="0" sz="2000" spc="7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recommendation.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483846" y="6842223"/>
            <a:ext cx="5320030" cy="2731770"/>
          </a:xfrm>
          <a:custGeom>
            <a:avLst/>
            <a:gdLst/>
            <a:ahLst/>
            <a:cxnLst/>
            <a:rect l="l" t="t" r="r" b="b"/>
            <a:pathLst>
              <a:path w="5320030" h="2731770">
                <a:moveTo>
                  <a:pt x="5281326" y="2731144"/>
                </a:moveTo>
                <a:lnTo>
                  <a:pt x="38766" y="2731144"/>
                </a:lnTo>
                <a:lnTo>
                  <a:pt x="23668" y="2728059"/>
                </a:lnTo>
                <a:lnTo>
                  <a:pt x="11346" y="2719756"/>
                </a:lnTo>
                <a:lnTo>
                  <a:pt x="3043" y="2707434"/>
                </a:lnTo>
                <a:lnTo>
                  <a:pt x="0" y="2692336"/>
                </a:lnTo>
                <a:lnTo>
                  <a:pt x="0" y="38766"/>
                </a:lnTo>
                <a:lnTo>
                  <a:pt x="3043" y="23668"/>
                </a:lnTo>
                <a:lnTo>
                  <a:pt x="11346" y="11346"/>
                </a:lnTo>
                <a:lnTo>
                  <a:pt x="23668" y="3043"/>
                </a:lnTo>
                <a:lnTo>
                  <a:pt x="38766" y="0"/>
                </a:lnTo>
                <a:lnTo>
                  <a:pt x="5281326" y="0"/>
                </a:lnTo>
                <a:lnTo>
                  <a:pt x="5296424" y="3043"/>
                </a:lnTo>
                <a:lnTo>
                  <a:pt x="5308746" y="11346"/>
                </a:lnTo>
                <a:lnTo>
                  <a:pt x="5317049" y="23668"/>
                </a:lnTo>
                <a:lnTo>
                  <a:pt x="5319547" y="36057"/>
                </a:lnTo>
                <a:lnTo>
                  <a:pt x="5319547" y="2695045"/>
                </a:lnTo>
                <a:lnTo>
                  <a:pt x="5317049" y="2707434"/>
                </a:lnTo>
                <a:lnTo>
                  <a:pt x="5308746" y="2719756"/>
                </a:lnTo>
                <a:lnTo>
                  <a:pt x="5296424" y="2728059"/>
                </a:lnTo>
                <a:lnTo>
                  <a:pt x="5281326" y="2731144"/>
                </a:lnTo>
                <a:close/>
              </a:path>
            </a:pathLst>
          </a:custGeom>
          <a:solidFill>
            <a:srgbClr val="F94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729659" y="6837088"/>
            <a:ext cx="4338320" cy="1927860"/>
          </a:xfrm>
          <a:prstGeom prst="rect">
            <a:avLst/>
          </a:prstGeom>
        </p:spPr>
        <p:txBody>
          <a:bodyPr wrap="square" lIns="0" tIns="233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z="2500" b="1">
                <a:latin typeface="Arial"/>
                <a:cs typeface="Arial"/>
              </a:rPr>
              <a:t>Future</a:t>
            </a:r>
            <a:r>
              <a:rPr dirty="0" sz="2500" spc="-45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Enhancements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34400"/>
              </a:lnSpc>
              <a:spcBef>
                <a:spcPts val="565"/>
              </a:spcBef>
            </a:pPr>
            <a:r>
              <a:rPr dirty="0" sz="2000">
                <a:latin typeface="Trebuchet MS"/>
                <a:cs typeface="Trebuchet MS"/>
              </a:rPr>
              <a:t>Preemptive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 spc="-30">
                <a:latin typeface="Trebuchet MS"/>
                <a:cs typeface="Trebuchet MS"/>
              </a:rPr>
              <a:t>Priority,</a:t>
            </a:r>
            <a:r>
              <a:rPr dirty="0" sz="2000" spc="-5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Multilevel</a:t>
            </a:r>
            <a:r>
              <a:rPr dirty="0" sz="2000" spc="-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Queue </a:t>
            </a:r>
            <a:r>
              <a:rPr dirty="0" sz="2000">
                <a:latin typeface="Trebuchet MS"/>
                <a:cs typeface="Trebuchet MS"/>
              </a:rPr>
              <a:t>Scheduling,</a:t>
            </a:r>
            <a:r>
              <a:rPr dirty="0" sz="2000" spc="15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step-by-step</a:t>
            </a:r>
            <a:r>
              <a:rPr dirty="0" sz="2000" spc="15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execution </a:t>
            </a:r>
            <a:r>
              <a:rPr dirty="0" sz="2000">
                <a:latin typeface="Trebuchet MS"/>
                <a:cs typeface="Trebuchet MS"/>
              </a:rPr>
              <a:t>mode,</a:t>
            </a:r>
            <a:r>
              <a:rPr dirty="0" sz="2000" spc="-80">
                <a:latin typeface="Trebuchet MS"/>
                <a:cs typeface="Trebuchet MS"/>
              </a:rPr>
              <a:t> </a:t>
            </a:r>
            <a:r>
              <a:rPr dirty="0" sz="2000" spc="55">
                <a:latin typeface="Trebuchet MS"/>
                <a:cs typeface="Trebuchet MS"/>
              </a:rPr>
              <a:t>and</a:t>
            </a:r>
            <a:r>
              <a:rPr dirty="0" sz="2000" spc="-8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PDF</a:t>
            </a:r>
            <a:r>
              <a:rPr dirty="0" sz="2000" spc="-7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export</a:t>
            </a:r>
            <a:r>
              <a:rPr dirty="0" sz="2000" spc="-8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capabilities.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2062519" y="6842223"/>
            <a:ext cx="5320030" cy="2731770"/>
          </a:xfrm>
          <a:custGeom>
            <a:avLst/>
            <a:gdLst/>
            <a:ahLst/>
            <a:cxnLst/>
            <a:rect l="l" t="t" r="r" b="b"/>
            <a:pathLst>
              <a:path w="5320030" h="2731770">
                <a:moveTo>
                  <a:pt x="5281326" y="2731144"/>
                </a:moveTo>
                <a:lnTo>
                  <a:pt x="38767" y="2731144"/>
                </a:lnTo>
                <a:lnTo>
                  <a:pt x="23668" y="2728059"/>
                </a:lnTo>
                <a:lnTo>
                  <a:pt x="11346" y="2719756"/>
                </a:lnTo>
                <a:lnTo>
                  <a:pt x="3043" y="2707434"/>
                </a:lnTo>
                <a:lnTo>
                  <a:pt x="0" y="2692336"/>
                </a:lnTo>
                <a:lnTo>
                  <a:pt x="0" y="38766"/>
                </a:lnTo>
                <a:lnTo>
                  <a:pt x="3043" y="23668"/>
                </a:lnTo>
                <a:lnTo>
                  <a:pt x="11346" y="11346"/>
                </a:lnTo>
                <a:lnTo>
                  <a:pt x="23668" y="3043"/>
                </a:lnTo>
                <a:lnTo>
                  <a:pt x="38767" y="0"/>
                </a:lnTo>
                <a:lnTo>
                  <a:pt x="5281326" y="0"/>
                </a:lnTo>
                <a:lnTo>
                  <a:pt x="5296425" y="3043"/>
                </a:lnTo>
                <a:lnTo>
                  <a:pt x="5308746" y="11346"/>
                </a:lnTo>
                <a:lnTo>
                  <a:pt x="5317049" y="23668"/>
                </a:lnTo>
                <a:lnTo>
                  <a:pt x="5319547" y="36057"/>
                </a:lnTo>
                <a:lnTo>
                  <a:pt x="5319547" y="2695045"/>
                </a:lnTo>
                <a:lnTo>
                  <a:pt x="5317049" y="2707434"/>
                </a:lnTo>
                <a:lnTo>
                  <a:pt x="5308746" y="2719756"/>
                </a:lnTo>
                <a:lnTo>
                  <a:pt x="5296425" y="2728059"/>
                </a:lnTo>
                <a:lnTo>
                  <a:pt x="5281326" y="2731144"/>
                </a:lnTo>
                <a:close/>
              </a:path>
            </a:pathLst>
          </a:custGeom>
          <a:solidFill>
            <a:srgbClr val="F94B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308333" y="6837088"/>
            <a:ext cx="4827270" cy="1927860"/>
          </a:xfrm>
          <a:prstGeom prst="rect">
            <a:avLst/>
          </a:prstGeom>
        </p:spPr>
        <p:txBody>
          <a:bodyPr wrap="square" lIns="0" tIns="233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z="2500" b="1">
                <a:latin typeface="Arial"/>
                <a:cs typeface="Arial"/>
              </a:rPr>
              <a:t>Educational</a:t>
            </a:r>
            <a:r>
              <a:rPr dirty="0" sz="2500" spc="-70" b="1">
                <a:latin typeface="Arial"/>
                <a:cs typeface="Arial"/>
              </a:rPr>
              <a:t> </a:t>
            </a:r>
            <a:r>
              <a:rPr dirty="0" sz="2500" spc="-10" b="1">
                <a:latin typeface="Arial"/>
                <a:cs typeface="Arial"/>
              </a:rPr>
              <a:t>Impact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34400"/>
              </a:lnSpc>
              <a:spcBef>
                <a:spcPts val="565"/>
              </a:spcBef>
            </a:pPr>
            <a:r>
              <a:rPr dirty="0" sz="2000" spc="-10">
                <a:latin typeface="Trebuchet MS"/>
                <a:cs typeface="Trebuchet MS"/>
              </a:rPr>
              <a:t>Excellent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tool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for</a:t>
            </a:r>
            <a:r>
              <a:rPr dirty="0" sz="2000" spc="-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visualizing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70">
                <a:latin typeface="Trebuchet MS"/>
                <a:cs typeface="Trebuchet MS"/>
              </a:rPr>
              <a:t>OS</a:t>
            </a:r>
            <a:r>
              <a:rPr dirty="0" sz="2000" spc="-3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concepts, </a:t>
            </a:r>
            <a:r>
              <a:rPr dirty="0" sz="2000">
                <a:latin typeface="Trebuchet MS"/>
                <a:cs typeface="Trebuchet MS"/>
              </a:rPr>
              <a:t>making</a:t>
            </a:r>
            <a:r>
              <a:rPr dirty="0" sz="2000" spc="130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complex</a:t>
            </a:r>
            <a:r>
              <a:rPr dirty="0" sz="2000" spc="135">
                <a:latin typeface="Trebuchet MS"/>
                <a:cs typeface="Trebuchet MS"/>
              </a:rPr>
              <a:t> </a:t>
            </a:r>
            <a:r>
              <a:rPr dirty="0" sz="2000">
                <a:latin typeface="Trebuchet MS"/>
                <a:cs typeface="Trebuchet MS"/>
              </a:rPr>
              <a:t>scheduling</a:t>
            </a:r>
            <a:r>
              <a:rPr dirty="0" sz="2000" spc="135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algorithms </a:t>
            </a:r>
            <a:r>
              <a:rPr dirty="0" sz="2000">
                <a:latin typeface="Trebuchet MS"/>
                <a:cs typeface="Trebuchet MS"/>
              </a:rPr>
              <a:t>accessible</a:t>
            </a:r>
            <a:r>
              <a:rPr dirty="0" sz="2000" spc="20">
                <a:latin typeface="Trebuchet MS"/>
                <a:cs typeface="Trebuchet MS"/>
              </a:rPr>
              <a:t> </a:t>
            </a:r>
            <a:r>
              <a:rPr dirty="0" sz="2000" spc="55">
                <a:latin typeface="Trebuchet MS"/>
                <a:cs typeface="Trebuchet MS"/>
              </a:rPr>
              <a:t>and</a:t>
            </a:r>
            <a:r>
              <a:rPr dirty="0" sz="2000" spc="20">
                <a:latin typeface="Trebuchet MS"/>
                <a:cs typeface="Trebuchet MS"/>
              </a:rPr>
              <a:t> </a:t>
            </a:r>
            <a:r>
              <a:rPr dirty="0" sz="2000" spc="-10">
                <a:latin typeface="Trebuchet MS"/>
                <a:cs typeface="Trebuchet MS"/>
              </a:rPr>
              <a:t>interactive.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Premansh Kumar</dc:creator>
  <cp:keywords>DAG7HG4zOMI,BAGgAv0uMbY,0</cp:keywords>
  <dc:title>CPU-Scheduling-Simulator.pptx</dc:title>
  <dcterms:created xsi:type="dcterms:W3CDTF">2025-12-10T12:16:17Z</dcterms:created>
  <dcterms:modified xsi:type="dcterms:W3CDTF">2025-12-10T12:16:17Z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2025-12-10T00:00:00Z</vt:filetime>
  </property>
  <property fmtid="{D5CDD505-2E9C-101B-9397-08002B2CF9AE}" pid="3" name="Creator">
    <vt:lpwstr>Canva</vt:lpwstr>
  </property>
  <property fmtid="{D5CDD505-2E9C-101B-9397-08002B2CF9AE}" pid="4" name="LastSaved">
    <vt:filetime>2025-12-10T00:00:00Z</vt:filetime>
  </property>
  <property fmtid="{D5CDD505-2E9C-101B-9397-08002B2CF9AE}" pid="5" name="Producer">
    <vt:lpwstr>Canva</vt:lpwstr>
  </property>
</Properties>
</file>